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3" r:id="rId4"/>
    <p:sldId id="271" r:id="rId5"/>
    <p:sldId id="272" r:id="rId6"/>
    <p:sldId id="276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9" r:id="rId17"/>
    <p:sldId id="290" r:id="rId18"/>
    <p:sldId id="291" r:id="rId19"/>
    <p:sldId id="293" r:id="rId20"/>
    <p:sldId id="296" r:id="rId21"/>
    <p:sldId id="297" r:id="rId22"/>
    <p:sldId id="301" r:id="rId23"/>
    <p:sldId id="302" r:id="rId24"/>
    <p:sldId id="303" r:id="rId25"/>
    <p:sldId id="304" r:id="rId26"/>
    <p:sldId id="305" r:id="rId27"/>
    <p:sldId id="306" r:id="rId28"/>
    <p:sldId id="311" r:id="rId29"/>
    <p:sldId id="312" r:id="rId30"/>
    <p:sldId id="313" r:id="rId31"/>
    <p:sldId id="314" r:id="rId32"/>
    <p:sldId id="315" r:id="rId33"/>
    <p:sldId id="318" r:id="rId34"/>
    <p:sldId id="320" r:id="rId35"/>
    <p:sldId id="325" r:id="rId3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4694"/>
  </p:normalViewPr>
  <p:slideViewPr>
    <p:cSldViewPr>
      <p:cViewPr varScale="1">
        <p:scale>
          <a:sx n="149" d="100"/>
          <a:sy n="149" d="100"/>
        </p:scale>
        <p:origin x="1810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slide" Target="slide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slide" Target="slide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513" y="968375"/>
            <a:ext cx="3657599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8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28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7997" y="1577975"/>
            <a:ext cx="19926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01: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Introduction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From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networked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systems to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3250" y="1720908"/>
            <a:ext cx="3472179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95"/>
              </a:spcBef>
              <a:tabLst>
                <a:tab pos="1496060" algn="l"/>
                <a:tab pos="288988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When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does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decentralized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become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distributed?</a:t>
            </a:r>
            <a:endParaRPr sz="1000" dirty="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system?</a:t>
            </a:r>
            <a:endParaRPr sz="900" dirty="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nodes?</a:t>
            </a:r>
            <a:endParaRPr sz="900" dirty="0">
              <a:latin typeface="Arial"/>
              <a:cs typeface="Arial"/>
            </a:endParaRPr>
          </a:p>
          <a:p>
            <a:pPr marL="3092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988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links....?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From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networked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systems to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distributed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</a:t>
            </a:r>
            <a:r>
              <a:rPr spc="-7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282" y="514774"/>
            <a:ext cx="3992245" cy="210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views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realizing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 dirty="0">
              <a:latin typeface="Arial"/>
              <a:cs typeface="Arial"/>
            </a:endParaRPr>
          </a:p>
          <a:p>
            <a:pPr marL="307340" marR="42545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3079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Integrative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existing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larger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 dirty="0">
              <a:latin typeface="Arial"/>
              <a:cs typeface="Arial"/>
            </a:endParaRPr>
          </a:p>
          <a:p>
            <a:pPr marL="303530" marR="163195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3079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Expansive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0" dirty="0">
                <a:latin typeface="Arial"/>
                <a:cs typeface="Arial"/>
              </a:rPr>
              <a:t> existing 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extended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computers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definitions</a:t>
            </a:r>
            <a:endParaRPr sz="1000" dirty="0">
              <a:latin typeface="Arial"/>
              <a:cs typeface="Arial"/>
            </a:endParaRPr>
          </a:p>
          <a:p>
            <a:pPr marL="307340" marR="40005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decentralized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networked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which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necessarily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multiple computers.</a:t>
            </a:r>
            <a:endParaRPr sz="900" dirty="0">
              <a:latin typeface="Arial"/>
              <a:cs typeface="Arial"/>
            </a:endParaRPr>
          </a:p>
          <a:p>
            <a:pPr marL="307340" marR="431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sufficiently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024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81" y="562907"/>
            <a:ext cx="3156238" cy="12375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350" y="1885089"/>
            <a:ext cx="3905250" cy="1261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transparency?</a:t>
            </a:r>
            <a:endParaRPr sz="1000">
              <a:latin typeface="Arial"/>
              <a:cs typeface="Arial"/>
            </a:endParaRPr>
          </a:p>
          <a:p>
            <a:pPr marL="18415" marR="50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phenomenon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which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distributed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attempts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9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that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processes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resources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physically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multiple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computers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possibly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separated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large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distances</a:t>
            </a:r>
            <a:r>
              <a:rPr sz="900" i="1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8415" marR="10795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Distribution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transparancy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techniques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layer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middleware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layer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024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3141" y="792708"/>
          <a:ext cx="3716654" cy="185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Transparency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Access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220979">
                        <a:lnSpc>
                          <a:spcPts val="1210"/>
                        </a:lnSpc>
                        <a:spcBef>
                          <a:spcPts val="3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differences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in data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representation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and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how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accessed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where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moved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another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while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use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Migration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move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another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replicated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Concurrency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shared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several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independent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users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failure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recovery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object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Degree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transparency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514774"/>
            <a:ext cx="3943350" cy="1908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Aiming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much</a:t>
            </a:r>
            <a:endParaRPr sz="1000">
              <a:latin typeface="Arial"/>
              <a:cs typeface="Arial"/>
            </a:endParaRPr>
          </a:p>
          <a:p>
            <a:pPr marL="278765" indent="-117475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hidden</a:t>
            </a:r>
            <a:endParaRPr sz="900">
              <a:latin typeface="Arial"/>
              <a:cs typeface="Arial"/>
            </a:endParaRPr>
          </a:p>
          <a:p>
            <a:pPr marL="282575" marR="161925" indent="-120650">
              <a:lnSpc>
                <a:spcPct val="111600"/>
              </a:lnSpc>
              <a:spcBef>
                <a:spcPts val="29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Completely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hiding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(theoretically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practically)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impossible</a:t>
            </a:r>
            <a:endParaRPr sz="900">
              <a:latin typeface="Arial"/>
              <a:cs typeface="Arial"/>
            </a:endParaRPr>
          </a:p>
          <a:p>
            <a:pPr marL="531495" lvl="1" indent="-116839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one</a:t>
            </a:r>
            <a:endParaRPr sz="900">
              <a:latin typeface="Arial"/>
              <a:cs typeface="Arial"/>
            </a:endParaRPr>
          </a:p>
          <a:p>
            <a:pPr marL="535305" marR="17780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60" dirty="0">
                <a:latin typeface="Arial"/>
                <a:cs typeface="Arial"/>
              </a:rPr>
              <a:t>You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never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crash</a:t>
            </a:r>
            <a:endParaRPr sz="900">
              <a:latin typeface="Arial"/>
              <a:cs typeface="Arial"/>
            </a:endParaRPr>
          </a:p>
          <a:p>
            <a:pPr marL="282575" marR="26606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latin typeface="Arial"/>
                <a:cs typeface="Arial"/>
              </a:rPr>
              <a:t>Full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 will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cost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performance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exposing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distribution 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  <a:p>
            <a:pPr marL="535305" lvl="1" indent="-120650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5940" algn="l"/>
              </a:tabLst>
            </a:pPr>
            <a:r>
              <a:rPr sz="900" spc="-10" dirty="0">
                <a:latin typeface="Arial"/>
                <a:cs typeface="Arial"/>
              </a:rPr>
              <a:t>Keeping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exactly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up-to-</a:t>
            </a:r>
            <a:r>
              <a:rPr sz="900" dirty="0">
                <a:latin typeface="Arial"/>
                <a:cs typeface="Arial"/>
              </a:rPr>
              <a:t>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master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takes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time</a:t>
            </a:r>
            <a:endParaRPr sz="900">
              <a:latin typeface="Arial"/>
              <a:cs typeface="Arial"/>
            </a:endParaRPr>
          </a:p>
          <a:p>
            <a:pPr marL="535305" lvl="1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5940" algn="l"/>
              </a:tabLst>
            </a:pPr>
            <a:r>
              <a:rPr sz="900" dirty="0">
                <a:latin typeface="Arial"/>
                <a:cs typeface="Arial"/>
              </a:rPr>
              <a:t>Immediately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flushing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tolerance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130" cy="1917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Exposing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distribution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may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be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good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(finding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friends)</a:t>
            </a:r>
            <a:endParaRPr sz="900">
              <a:latin typeface="Arial"/>
              <a:cs typeface="Arial"/>
            </a:endParaRPr>
          </a:p>
          <a:p>
            <a:pPr marL="549910" indent="-11493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zones</a:t>
            </a:r>
            <a:endParaRPr sz="900">
              <a:latin typeface="Arial"/>
              <a:cs typeface="Arial"/>
            </a:endParaRPr>
          </a:p>
          <a:p>
            <a:pPr marL="555625" marR="7874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understand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what’s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(when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failing).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Distribution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nice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goal,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achieving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story,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aimed</a:t>
            </a:r>
            <a:r>
              <a:rPr sz="900" spc="-25" dirty="0">
                <a:latin typeface="Arial"/>
                <a:cs typeface="Arial"/>
              </a:rPr>
              <a:t> at.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Openness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distributed</a:t>
            </a:r>
            <a:r>
              <a:rPr spc="-5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471706"/>
            <a:ext cx="3944620" cy="19500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  <a:p>
            <a:pPr marL="31115" marR="177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offers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can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easily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used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by,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integrated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into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other</a:t>
            </a:r>
            <a:r>
              <a:rPr sz="9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open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distributed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itself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will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often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consist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components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originate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from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elsewhere.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talking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about?</a:t>
            </a:r>
            <a:endParaRPr sz="1000">
              <a:latin typeface="Arial"/>
              <a:cs typeface="Arial"/>
            </a:endParaRPr>
          </a:p>
          <a:p>
            <a:pPr marL="31115" marR="61594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irrespective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underlying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environment: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well-</a:t>
            </a:r>
            <a:r>
              <a:rPr sz="900" dirty="0">
                <a:latin typeface="Arial"/>
                <a:cs typeface="Arial"/>
              </a:rPr>
              <a:t>defined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interfaces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interoperate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portability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extensible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Policies</a:t>
            </a:r>
            <a:r>
              <a:rPr spc="-50" dirty="0"/>
              <a:t> </a:t>
            </a:r>
            <a:r>
              <a:rPr dirty="0"/>
              <a:t>versus</a:t>
            </a:r>
            <a:r>
              <a:rPr spc="-50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514774"/>
            <a:ext cx="3971925" cy="210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Implementing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openness: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policies</a:t>
            </a:r>
            <a:endParaRPr sz="10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cached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downloaded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QoS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requirements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bandwidth?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Implementing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openness: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000">
              <a:latin typeface="Arial"/>
              <a:cs typeface="Arial"/>
            </a:endParaRPr>
          </a:p>
          <a:p>
            <a:pPr marL="299720" indent="-116839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Allow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(dynamic)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policies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Support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code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adjustable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QoS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Offer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algorithms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0" dirty="0"/>
              <a:t> </a:t>
            </a:r>
            <a:r>
              <a:rPr dirty="0"/>
              <a:t>strict</a:t>
            </a:r>
            <a:r>
              <a:rPr spc="-20" dirty="0"/>
              <a:t> </a:t>
            </a:r>
            <a:r>
              <a:rPr spc="-10" dirty="0"/>
              <a:t>separation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916679" cy="1234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stricter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potentially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configuration </a:t>
            </a:r>
            <a:r>
              <a:rPr sz="900" dirty="0">
                <a:latin typeface="Arial"/>
                <a:cs typeface="Arial"/>
              </a:rPr>
              <a:t>parameters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Finding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balance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ct val="111600"/>
              </a:lnSpc>
              <a:spcBef>
                <a:spcPts val="180"/>
              </a:spcBef>
            </a:pPr>
            <a:r>
              <a:rPr sz="900" spc="-10" dirty="0">
                <a:latin typeface="Arial"/>
                <a:cs typeface="Arial"/>
              </a:rPr>
              <a:t>Hard-</a:t>
            </a:r>
            <a:r>
              <a:rPr sz="900" dirty="0">
                <a:latin typeface="Arial"/>
                <a:cs typeface="Arial"/>
              </a:rPr>
              <a:t>coding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simplifies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flexibility.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Dependability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99476"/>
            <a:ext cx="3942715" cy="1233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8575" marR="177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component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provides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clients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80" dirty="0">
                <a:latin typeface="Arial"/>
                <a:cs typeface="Arial"/>
              </a:rPr>
              <a:t>To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provide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 may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depend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Specifically</a:t>
            </a:r>
            <a:endParaRPr sz="1000">
              <a:latin typeface="Arial"/>
              <a:cs typeface="Arial"/>
            </a:endParaRPr>
          </a:p>
          <a:p>
            <a:pPr marL="28575" marR="177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C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correctness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correctness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(Components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channels.)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4085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Dependability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Requirements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related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dependability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9551" y="792708"/>
          <a:ext cx="3143885" cy="956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Requirement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Readiness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usage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Reliability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Continuity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delivery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Safety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low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probability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catastrophes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Maintainability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failed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repaired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Reliability</a:t>
            </a:r>
            <a:r>
              <a:rPr spc="-65" dirty="0"/>
              <a:t> </a:t>
            </a:r>
            <a:r>
              <a:rPr dirty="0"/>
              <a:t>versus</a:t>
            </a:r>
            <a:r>
              <a:rPr spc="-65" dirty="0"/>
              <a:t> </a:t>
            </a:r>
            <a:r>
              <a:rPr spc="-10" dirty="0"/>
              <a:t>availability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66654"/>
            <a:ext cx="3955415" cy="15506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4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Reliability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R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t</a:t>
            </a:r>
            <a:r>
              <a:rPr sz="1000" i="1" spc="-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335"/>
              </a:spcBef>
            </a:pPr>
            <a:r>
              <a:rPr sz="900" spc="-10" dirty="0">
                <a:latin typeface="Arial"/>
                <a:cs typeface="Arial"/>
              </a:rPr>
              <a:t>Conditional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10" dirty="0">
                <a:latin typeface="Arial"/>
                <a:cs typeface="Arial"/>
              </a:rPr>
              <a:t> functioning correctly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[0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given</a:t>
            </a:r>
            <a:endParaRPr sz="9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0.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metrics</a:t>
            </a:r>
            <a:endParaRPr sz="10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MTTF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fails.</a:t>
            </a:r>
            <a:endParaRPr sz="900">
              <a:latin typeface="Arial"/>
              <a:cs typeface="Arial"/>
            </a:endParaRPr>
          </a:p>
          <a:p>
            <a:pPr marL="281940" marR="24701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Repair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MTTR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repair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component.</a:t>
            </a:r>
            <a:endParaRPr sz="9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Between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MTBF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MTTF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MTTR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29286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Terminology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Failure,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error,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fault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4187" y="784237"/>
          <a:ext cx="3534408" cy="107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R="6286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Term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493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living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up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to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specifications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Crashed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Error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6319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Part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can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lead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Programming</a:t>
                      </a:r>
                      <a:r>
                        <a:rPr sz="9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bug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R="8699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Cause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error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Sloppy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programmer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106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Terminology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Handling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faults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0933" y="793788"/>
          <a:ext cx="3581398" cy="2181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Term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8105" marR="32258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 prevention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Prevent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occurrence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39243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Don’t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hire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sloppy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900" spc="-3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tolerance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and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make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mask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the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occurrence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10489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component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two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independent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900" spc="-3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removal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presence,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number,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seriousness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40957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Get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sloppy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78105" marR="294640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 forecasting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556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Estimate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current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presence,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future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incidence,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consequences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faults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8953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Estimate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recruiter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doing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comes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hiring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sloppy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028" y="499307"/>
            <a:ext cx="3982720" cy="22275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endParaRPr sz="90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endParaRPr sz="10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</a:t>
            </a:r>
            <a:endParaRPr sz="900">
              <a:latin typeface="Arial"/>
              <a:cs typeface="Arial"/>
            </a:endParaRPr>
          </a:p>
          <a:p>
            <a:pPr marL="307975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assets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25" dirty="0">
                <a:latin typeface="Arial"/>
                <a:cs typeface="Arial"/>
              </a:rPr>
              <a:t> way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Authorization,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Authentication,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Trust</a:t>
            </a:r>
            <a:endParaRPr sz="10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630"/>
              </a:spcBef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Authentication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verifying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correctness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claimed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identity</a:t>
            </a:r>
            <a:endParaRPr sz="9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Authorization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rights?</a:t>
            </a:r>
            <a:endParaRPr sz="900">
              <a:latin typeface="Arial"/>
              <a:cs typeface="Arial"/>
            </a:endParaRPr>
          </a:p>
          <a:p>
            <a:pPr marL="307975" marR="287655" indent="-120650">
              <a:lnSpc>
                <a:spcPct val="111600"/>
              </a:lnSpc>
              <a:spcBef>
                <a:spcPts val="300"/>
              </a:spcBef>
              <a:buFont typeface="Menlo"/>
              <a:buChar char="•"/>
              <a:tabLst>
                <a:tab pos="30861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Trust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particular </a:t>
            </a:r>
            <a:r>
              <a:rPr sz="900" dirty="0">
                <a:latin typeface="Arial"/>
                <a:cs typeface="Arial"/>
              </a:rPr>
              <a:t>actions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497579" cy="1076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It’s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decrypting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114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encrypt/decrypt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900" y="197711"/>
            <a:ext cx="4185285" cy="1412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Symmetric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cryptosystem</a:t>
            </a:r>
            <a:endParaRPr sz="100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75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decryption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75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89560" marR="30480">
              <a:lnSpc>
                <a:spcPct val="11160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if 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then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Note: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descryption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key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secret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Asymmetric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cryptosystem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public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PK</a:t>
            </a:r>
            <a:r>
              <a:rPr sz="900" i="1" spc="-1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private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SK</a:t>
            </a:r>
            <a:r>
              <a:rPr sz="900" i="1" spc="-1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9" name="object 2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1CF09B-0A02-00B8-72BC-B6508B37C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37" y="1654678"/>
            <a:ext cx="3905250" cy="11287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35754" cy="1922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Secure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hashing</a:t>
            </a:r>
            <a:endParaRPr sz="1000" dirty="0">
              <a:latin typeface="Arial"/>
              <a:cs typeface="Arial"/>
            </a:endParaRPr>
          </a:p>
          <a:p>
            <a:pPr marL="302260" marR="164465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In </a:t>
            </a:r>
            <a:r>
              <a:rPr sz="900" spc="-10" dirty="0">
                <a:latin typeface="Arial"/>
                <a:cs typeface="Arial"/>
              </a:rPr>
              <a:t>practice,</a:t>
            </a:r>
            <a:r>
              <a:rPr sz="900" dirty="0">
                <a:latin typeface="Arial"/>
                <a:cs typeface="Arial"/>
              </a:rPr>
              <a:t> we use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secure hash functions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 returns a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fixed-length string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ts val="1005"/>
              </a:lnSpc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data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string</a:t>
            </a:r>
            <a:endParaRPr sz="900" dirty="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lang="en-US" sz="900" spc="-10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impossible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 </a:t>
            </a:r>
            <a:r>
              <a:rPr sz="900" spc="-20" dirty="0">
                <a:latin typeface="Arial"/>
                <a:cs typeface="Arial"/>
              </a:rPr>
              <a:t>with</a:t>
            </a:r>
            <a:endParaRPr sz="900" dirty="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lang="en-US" sz="900" spc="-1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Practical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digital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signatures</a:t>
            </a:r>
            <a:endParaRPr sz="10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Sign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Bob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Alice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2" name="object 2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3CEBDC-E66C-A32D-A356-207991441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75" y="2209617"/>
            <a:ext cx="3588504" cy="4792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01795" cy="2473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0830" marR="273050" indent="1079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adjective “scalable”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scales.</a:t>
            </a:r>
            <a:endParaRPr sz="9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least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(size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Maximum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(geographical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Number of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dirty="0">
                <a:latin typeface="Arial"/>
                <a:cs typeface="Arial"/>
              </a:rPr>
              <a:t> domains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(administrative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Most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solution: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powerful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independently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Today,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challenge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geographical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Size</a:t>
            </a:r>
            <a:r>
              <a:rPr spc="-50" dirty="0"/>
              <a:t> </a:t>
            </a:r>
            <a:r>
              <a:rPr spc="-10" dirty="0"/>
              <a:t>scalability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904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Root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capacity,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limited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CPUs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storage</a:t>
            </a:r>
            <a:r>
              <a:rPr sz="900" spc="-20" dirty="0">
                <a:latin typeface="Arial"/>
                <a:cs typeface="Arial"/>
              </a:rPr>
              <a:t> capacity, </a:t>
            </a:r>
            <a:r>
              <a:rPr sz="900" spc="-10" dirty="0">
                <a:latin typeface="Arial"/>
                <a:cs typeface="Arial"/>
              </a:rPr>
              <a:t>including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CPUs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disks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0" y="197711"/>
            <a:ext cx="4219575" cy="1866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geographical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530225" marR="45085" indent="-120650">
              <a:lnSpc>
                <a:spcPct val="111600"/>
              </a:lnSpc>
              <a:spcBef>
                <a:spcPts val="895"/>
              </a:spcBef>
              <a:buClr>
                <a:srgbClr val="3333B2"/>
              </a:buClr>
              <a:buFont typeface="Menlo"/>
              <a:buChar char="•"/>
              <a:tabLst>
                <a:tab pos="530860" algn="l"/>
              </a:tabLst>
            </a:pPr>
            <a:r>
              <a:rPr sz="900" dirty="0">
                <a:latin typeface="Arial"/>
                <a:cs typeface="Arial"/>
              </a:rPr>
              <a:t>Cannot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WAN: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assume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synchronous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interactions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Latency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prohibit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scheme.</a:t>
            </a:r>
            <a:endParaRPr sz="900">
              <a:latin typeface="Arial"/>
              <a:cs typeface="Arial"/>
            </a:endParaRPr>
          </a:p>
          <a:p>
            <a:pPr marL="530225" marR="4572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25145" algn="l"/>
              </a:tabLst>
            </a:pPr>
            <a:r>
              <a:rPr sz="900" spc="-20" dirty="0">
                <a:latin typeface="Arial"/>
                <a:cs typeface="Arial"/>
              </a:rPr>
              <a:t>WAN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inherently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unreliable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video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fail.</a:t>
            </a:r>
            <a:endParaRPr sz="900">
              <a:latin typeface="Arial"/>
              <a:cs typeface="Arial"/>
            </a:endParaRPr>
          </a:p>
          <a:p>
            <a:pPr marL="530225" marR="4318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5308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Lack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multipoint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broadcast cannot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deployed.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develop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naming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directory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scalability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20210" cy="276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administrative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302260" marR="431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concerning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payment),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management,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security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  <a:p>
            <a:pPr marL="555625" marR="317500" indent="-120650">
              <a:lnSpc>
                <a:spcPct val="111600"/>
              </a:lnSpc>
              <a:spcBef>
                <a:spcPts val="56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Computational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grids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domains.</a:t>
            </a:r>
            <a:endParaRPr sz="900">
              <a:latin typeface="Arial"/>
              <a:cs typeface="Arial"/>
            </a:endParaRPr>
          </a:p>
          <a:p>
            <a:pPr marL="555625" marR="24828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Shared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equipment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radio </a:t>
            </a:r>
            <a:r>
              <a:rPr sz="900" dirty="0">
                <a:latin typeface="Arial"/>
                <a:cs typeface="Arial"/>
              </a:rPr>
              <a:t>telescope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constructed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Exception:</a:t>
            </a:r>
            <a:r>
              <a:rPr sz="1000" spc="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several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peer-to-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peer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networks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File-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(based,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BitTorrent)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Peer-</a:t>
            </a:r>
            <a:r>
              <a:rPr sz="900" spc="-10" dirty="0">
                <a:latin typeface="Arial"/>
                <a:cs typeface="Arial"/>
              </a:rPr>
              <a:t>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telephony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(early</a:t>
            </a:r>
            <a:r>
              <a:rPr sz="900" spc="-10" dirty="0">
                <a:latin typeface="Arial"/>
                <a:cs typeface="Arial"/>
              </a:rPr>
              <a:t> versions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Skype)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ts val="1045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Peer-</a:t>
            </a:r>
            <a:r>
              <a:rPr sz="900" dirty="0">
                <a:latin typeface="Arial"/>
                <a:cs typeface="Arial"/>
              </a:rPr>
              <a:t>assisted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audio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streaming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(Spotify)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ts val="1045"/>
              </a:lnSpc>
            </a:pPr>
            <a:r>
              <a:rPr sz="900" dirty="0">
                <a:latin typeface="Arial"/>
                <a:cs typeface="Arial"/>
              </a:rPr>
              <a:t>Note: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users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collaborate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administrative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entities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2875915" cy="110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latencies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asynchronous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Problem:</a:t>
            </a:r>
            <a:r>
              <a:rPr sz="9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114675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Facilitate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moving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computations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994" y="929127"/>
            <a:ext cx="3896278" cy="869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994" y="1975288"/>
            <a:ext cx="3888364" cy="89756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561715" cy="1127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Partition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computations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machines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(Java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scripts)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 services </a:t>
            </a:r>
            <a:r>
              <a:rPr sz="900" spc="-10" dirty="0">
                <a:latin typeface="Arial"/>
                <a:cs typeface="Arial"/>
              </a:rPr>
              <a:t>(DNS)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(WWW)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35425" cy="143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 marR="30480">
              <a:lnSpc>
                <a:spcPct val="109600"/>
              </a:lnSpc>
              <a:spcBef>
                <a:spcPts val="6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caching: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Make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copies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available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 machines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Replicated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Mirrored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Websites</a:t>
            </a:r>
            <a:endParaRPr sz="900">
              <a:latin typeface="Arial"/>
              <a:cs typeface="Arial"/>
            </a:endParaRPr>
          </a:p>
          <a:p>
            <a:pPr marL="537210" indent="-11493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Web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proxies)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73220" cy="207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(cached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replicated),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inconsistencies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rest.</a:t>
            </a:r>
            <a:endParaRPr sz="900">
              <a:latin typeface="Arial"/>
              <a:cs typeface="Arial"/>
            </a:endParaRPr>
          </a:p>
          <a:p>
            <a:pPr marL="555625" marR="6921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global synchronization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modification.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Global </a:t>
            </a:r>
            <a:r>
              <a:rPr sz="900" spc="-10" dirty="0">
                <a:latin typeface="Arial"/>
                <a:cs typeface="Arial"/>
              </a:rPr>
              <a:t>synchronization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precludes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257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global synchronization,</a:t>
            </a:r>
            <a:r>
              <a:rPr sz="900" dirty="0">
                <a:latin typeface="Arial"/>
                <a:cs typeface="Arial"/>
              </a:rPr>
              <a:t> but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tolerating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inconsistencies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application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dependent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Parallel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307"/>
            <a:ext cx="3622675" cy="599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High-performance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Multiprocessor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multicore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multicomputer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575" y="1113784"/>
            <a:ext cx="1203339" cy="1055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3770" y="1104488"/>
            <a:ext cx="1598858" cy="10600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45" dirty="0"/>
              <a:t> </a:t>
            </a:r>
            <a:r>
              <a:rPr dirty="0"/>
              <a:t>shared</a:t>
            </a:r>
            <a:r>
              <a:rPr spc="-40" dirty="0"/>
              <a:t> </a:t>
            </a:r>
            <a:r>
              <a:rPr dirty="0"/>
              <a:t>memory</a:t>
            </a:r>
            <a:r>
              <a:rPr spc="-4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24060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indent="31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Multiprocessors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relatively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comparison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spc="-10" dirty="0">
                <a:latin typeface="Arial"/>
                <a:cs typeface="Arial"/>
              </a:rPr>
              <a:t>multicomputers,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cores).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Try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implement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shared-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memory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model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multicomputer.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0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through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virtual-memory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techniques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Map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main-</a:t>
            </a:r>
            <a:r>
              <a:rPr sz="900" dirty="0">
                <a:latin typeface="Arial"/>
                <a:cs typeface="Arial"/>
              </a:rPr>
              <a:t>memory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processors)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virtual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address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traps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fetches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900" i="1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had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disk.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5875" marR="73660" algn="just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Performance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memory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compete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spc="-10" dirty="0">
                <a:latin typeface="Arial"/>
                <a:cs typeface="Arial"/>
              </a:rPr>
              <a:t>multiprocessors,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programmers.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widely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abandoned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now.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Cluster</a:t>
            </a:r>
            <a:r>
              <a:rPr spc="-4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756025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Essentially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group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high-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connected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through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LAN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Homogeneous: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near-</a:t>
            </a:r>
            <a:r>
              <a:rPr sz="900" dirty="0">
                <a:latin typeface="Arial"/>
                <a:cs typeface="Arial"/>
              </a:rPr>
              <a:t>identical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hardware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Single,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tightly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coupled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node(s)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508" y="1237862"/>
            <a:ext cx="3026449" cy="161064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69054" cy="191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Grid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next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step: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plenty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everywhere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Heterogeneous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Dispersed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wide-</a:t>
            </a:r>
            <a:r>
              <a:rPr sz="900" dirty="0">
                <a:latin typeface="Arial"/>
                <a:cs typeface="Arial"/>
              </a:rPr>
              <a:t>area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02260" marR="17780" indent="-3810" algn="just">
              <a:lnSpc>
                <a:spcPts val="1210"/>
              </a:lnSpc>
              <a:spcBef>
                <a:spcPts val="4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dirty="0">
                <a:latin typeface="Arial"/>
                <a:cs typeface="Arial"/>
              </a:rPr>
              <a:t> allow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collaborations,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grids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virtual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organizations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essence,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better: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authorization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allocation.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26976"/>
            <a:ext cx="2404110" cy="4895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EAI: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(nested)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459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Transaction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3132" y="960564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8281" y="1111072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0089" y="1261567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3303" y="691807"/>
          <a:ext cx="3456304" cy="915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Primitive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BEGIN</a:t>
                      </a:r>
                      <a:r>
                        <a:rPr sz="800" i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Mark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start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800" i="1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Terminate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transaction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commit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ABORT</a:t>
                      </a:r>
                      <a:r>
                        <a:rPr sz="800" i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Kill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transaction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restore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old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values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0" dirty="0">
                          <a:latin typeface="Arial"/>
                          <a:cs typeface="Arial"/>
                        </a:rPr>
                        <a:t>READ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Read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file,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table,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otherwise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WRITE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Write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file,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table,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otherwise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269" y="2096020"/>
            <a:ext cx="1246333" cy="100065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4594" y="1828856"/>
            <a:ext cx="3917315" cy="800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Issue:</a:t>
            </a:r>
            <a:r>
              <a:rPr sz="1000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all-or-nothing</a:t>
            </a:r>
            <a:endParaRPr sz="10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19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Atomic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happens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indivisibly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(seemingly)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5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does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violate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system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invariants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0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Isolated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mutual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interference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0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Durable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commit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means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changes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permanent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" action="ppaction://noaction"/>
              </a:rPr>
              <a:t>Distributed</a:t>
            </a:r>
            <a:r>
              <a:rPr sz="500" spc="20" dirty="0"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latin typeface="Arial"/>
                <a:cs typeface="Arial"/>
                <a:hlinkClick r:id="" action="ppaction://noaction"/>
              </a:rPr>
              <a:t>information</a:t>
            </a:r>
            <a:r>
              <a:rPr sz="500" spc="20" dirty="0"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latin typeface="Arial"/>
                <a:cs typeface="Arial"/>
                <a:hlinkClick r:id="" action="ppaction://noaction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3792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EAI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637" y="560414"/>
            <a:ext cx="2662212" cy="14339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098057"/>
            <a:ext cx="3912870" cy="1067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offers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facilities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integration</a:t>
            </a:r>
            <a:endParaRPr sz="1000">
              <a:latin typeface="Arial"/>
              <a:cs typeface="Arial"/>
            </a:endParaRPr>
          </a:p>
          <a:p>
            <a:pPr marL="246379" marR="5080" indent="-234315">
              <a:lnSpc>
                <a:spcPct val="111600"/>
              </a:lnSpc>
              <a:spcBef>
                <a:spcPts val="58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Procedure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Call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(RPC):</a:t>
            </a:r>
            <a:r>
              <a:rPr sz="900" spc="1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 </a:t>
            </a:r>
            <a:r>
              <a:rPr sz="900" dirty="0">
                <a:latin typeface="Arial"/>
                <a:cs typeface="Arial"/>
              </a:rPr>
              <a:t>call,</a:t>
            </a:r>
            <a:r>
              <a:rPr sz="900" spc="-20" dirty="0">
                <a:latin typeface="Arial"/>
                <a:cs typeface="Arial"/>
              </a:rPr>
              <a:t> packaged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call.</a:t>
            </a:r>
            <a:endParaRPr sz="900">
              <a:latin typeface="Arial"/>
              <a:cs typeface="Arial"/>
            </a:endParaRPr>
          </a:p>
          <a:p>
            <a:pPr marL="246379" marR="27305" indent="-234315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Oriented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(MOM):</a:t>
            </a:r>
            <a:r>
              <a:rPr sz="900" spc="2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contact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10" dirty="0">
                <a:latin typeface="Arial"/>
                <a:cs typeface="Arial"/>
              </a:rPr>
              <a:t> 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published</a:t>
            </a:r>
            <a:r>
              <a:rPr sz="900" spc="-10" dirty="0">
                <a:latin typeface="Arial"/>
                <a:cs typeface="Arial"/>
              </a:rPr>
              <a:t>),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subscribed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" action="ppaction://noaction"/>
              </a:rPr>
              <a:t>Distributed</a:t>
            </a:r>
            <a:r>
              <a:rPr sz="500" spc="20" dirty="0"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latin typeface="Arial"/>
                <a:cs typeface="Arial"/>
                <a:hlinkClick r:id="" action="ppaction://noaction"/>
              </a:rPr>
              <a:t>information</a:t>
            </a:r>
            <a:r>
              <a:rPr sz="500" spc="20" dirty="0"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latin typeface="Arial"/>
                <a:cs typeface="Arial"/>
                <a:hlinkClick r:id="" action="ppaction://noaction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80" dirty="0"/>
              <a:t> </a:t>
            </a:r>
            <a:r>
              <a:rPr dirty="0"/>
              <a:t>pervasive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99476"/>
            <a:ext cx="3949700" cy="19989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209" marR="2540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Emerging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next-</a:t>
            </a:r>
            <a:r>
              <a:rPr sz="900" dirty="0">
                <a:latin typeface="Arial"/>
                <a:cs typeface="Arial"/>
              </a:rPr>
              <a:t>generation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small, </a:t>
            </a:r>
            <a:r>
              <a:rPr sz="900" dirty="0">
                <a:latin typeface="Arial"/>
                <a:cs typeface="Arial"/>
              </a:rPr>
              <a:t>mobile,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embedded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naturally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blends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user’s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(overlapping)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subtypes</a:t>
            </a:r>
            <a:endParaRPr sz="10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Ubiquitous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continuously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present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i.e.,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continuous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 marL="281940" marR="129539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emphasis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inherently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mobile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47625" indent="-116839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Sensor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actuator)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emphasis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actual (collaborative)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sensing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actuation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environment.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" action="ppaction://noaction"/>
              </a:rPr>
              <a:t>Pervasive</a:t>
            </a:r>
            <a:r>
              <a:rPr sz="500" spc="15" dirty="0"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latin typeface="Arial"/>
                <a:cs typeface="Arial"/>
                <a:hlinkClick r:id="" action="ppaction://noaction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2424</Words>
  <Application>Microsoft Office PowerPoint</Application>
  <PresentationFormat>Custom</PresentationFormat>
  <Paragraphs>373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Menlo</vt:lpstr>
      <vt:lpstr>Office Theme</vt:lpstr>
      <vt:lpstr>PowerPoint Presentation</vt:lpstr>
      <vt:lpstr>PowerPoint Presentation</vt:lpstr>
      <vt:lpstr>Alternative approach</vt:lpstr>
      <vt:lpstr>PowerPoint Presentation</vt:lpstr>
      <vt:lpstr>PowerPoint Presentation</vt:lpstr>
      <vt:lpstr>Degree of transparency</vt:lpstr>
      <vt:lpstr>PowerPoint Presentation</vt:lpstr>
      <vt:lpstr>Openness of distributed systems</vt:lpstr>
      <vt:lpstr>Policies versus mechanisms</vt:lpstr>
      <vt:lpstr>On strict separation</vt:lpstr>
      <vt:lpstr>Dependability</vt:lpstr>
      <vt:lpstr>PowerPoint Presentation</vt:lpstr>
      <vt:lpstr>Reliability versus availability</vt:lpstr>
      <vt:lpstr>PowerPoint Presentation</vt:lpstr>
      <vt:lpstr>PowerPoint Presentation</vt:lpstr>
      <vt:lpstr>On security</vt:lpstr>
      <vt:lpstr>PowerPoint Presentation</vt:lpstr>
      <vt:lpstr>PowerPoint Presentation</vt:lpstr>
      <vt:lpstr>PowerPoint Presentation</vt:lpstr>
      <vt:lpstr>PowerPoint Presentation</vt:lpstr>
      <vt:lpstr>Size scalability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computing</vt:lpstr>
      <vt:lpstr>Distributed shared memory systems</vt:lpstr>
      <vt:lpstr>Cluster computing</vt:lpstr>
      <vt:lpstr>PowerPoint Presentation</vt:lpstr>
      <vt:lpstr>PowerPoint Presentation</vt:lpstr>
      <vt:lpstr>PowerPoint Presentation</vt:lpstr>
      <vt:lpstr>Distributed pervasive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Sami</cp:lastModifiedBy>
  <cp:revision>7</cp:revision>
  <dcterms:created xsi:type="dcterms:W3CDTF">2023-04-27T05:42:13Z</dcterms:created>
  <dcterms:modified xsi:type="dcterms:W3CDTF">2026-04-20T20:45:35Z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