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jpg" ContentType="image/jpg"/>
  <Override PartName="/ppt/media/image3.jpg" ContentType="image/jpg"/>
  <Override PartName="/ppt/media/image4.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1" r:id="rId3"/>
    <p:sldId id="263" r:id="rId4"/>
    <p:sldId id="271" r:id="rId5"/>
    <p:sldId id="272" r:id="rId6"/>
    <p:sldId id="276" r:id="rId7"/>
    <p:sldId id="278" r:id="rId8"/>
    <p:sldId id="279" r:id="rId9"/>
    <p:sldId id="280" r:id="rId10"/>
    <p:sldId id="281" r:id="rId11"/>
    <p:sldId id="282" r:id="rId12"/>
    <p:sldId id="283" r:id="rId13"/>
    <p:sldId id="284" r:id="rId14"/>
    <p:sldId id="285" r:id="rId15"/>
    <p:sldId id="286" r:id="rId16"/>
    <p:sldId id="289" r:id="rId17"/>
    <p:sldId id="290" r:id="rId18"/>
    <p:sldId id="291" r:id="rId19"/>
    <p:sldId id="293" r:id="rId20"/>
    <p:sldId id="296" r:id="rId21"/>
    <p:sldId id="297" r:id="rId22"/>
    <p:sldId id="301" r:id="rId23"/>
    <p:sldId id="302" r:id="rId24"/>
    <p:sldId id="303" r:id="rId25"/>
    <p:sldId id="304" r:id="rId26"/>
    <p:sldId id="305" r:id="rId27"/>
    <p:sldId id="306" r:id="rId28"/>
    <p:sldId id="311" r:id="rId29"/>
    <p:sldId id="312" r:id="rId30"/>
    <p:sldId id="313" r:id="rId31"/>
    <p:sldId id="314" r:id="rId32"/>
    <p:sldId id="315" r:id="rId33"/>
    <p:sldId id="318" r:id="rId34"/>
    <p:sldId id="320" r:id="rId35"/>
    <p:sldId id="325" r:id="rId36"/>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94694"/>
  </p:normalViewPr>
  <p:slideViewPr>
    <p:cSldViewPr>
      <p:cViewPr varScale="1">
        <p:scale>
          <a:sx n="149" d="100"/>
          <a:sy n="149" d="100"/>
        </p:scale>
        <p:origin x="1810" y="9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451100"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image" Target="../media/image4.jpg"/><Relationship Id="rId5"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25.xml"/><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25.xml"/><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 Target="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29.xml"/><Relationship Id="rId4" Type="http://schemas.openxmlformats.org/officeDocument/2006/relationships/image" Target="../media/image9.png"/><Relationship Id="rId5"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29.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29.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slide" Target="slide29.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2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5513" y="968375"/>
            <a:ext cx="3657599" cy="573234"/>
          </a:xfrm>
          <a:prstGeom prst="rect">
            <a:avLst/>
          </a:prstGeom>
        </p:spPr>
        <p:txBody>
          <a:bodyPr vert="horz" wrap="square" lIns="0" tIns="140970" rIns="0" bIns="0" rtlCol="0">
            <a:spAutoFit/>
          </a:bodyPr>
          <a:lstStyle/>
          <a:p>
            <a:pPr algn="ctr" rtl="1">
              <a:lnSpc>
                <a:spcPct val="100000"/>
              </a:lnSpc>
              <a:spcBef>
                <a:spcPts val="1110"/>
              </a:spcBef>
            </a:pPr>
            <a:endParaRPr sz="2800" dirty="0">
              <a:latin typeface="Arial"/>
              <a:cs typeface="Arial"/>
            </a:endParaRPr>
            <a:r>
              <a:rPr lang="ar-SA" altLang="en-US" sz="2800" b="1">
                <a:latin typeface="Arial"/>
              </a:rPr>
              <a:t>الأنظمة الموزعة</a:t>
            </a:r>
          </a:p>
        </p:txBody>
      </p:sp>
      <p:sp>
        <p:nvSpPr>
          <p:cNvPr id="3" name="object 3"/>
          <p:cNvSpPr txBox="1"/>
          <p:nvPr/>
        </p:nvSpPr>
        <p:spPr>
          <a:xfrm>
            <a:off x="1307997" y="1577975"/>
            <a:ext cx="1992630" cy="244475"/>
          </a:xfrm>
          <a:prstGeom prst="rect">
            <a:avLst/>
          </a:prstGeom>
        </p:spPr>
        <p:txBody>
          <a:bodyPr vert="horz" wrap="square" lIns="0" tIns="17145" rIns="0" bIns="0" rtlCol="0">
            <a:spAutoFit/>
          </a:bodyPr>
          <a:lstStyle/>
          <a:p>
            <a:pPr marL="12700" rtl="1">
              <a:lnSpc>
                <a:spcPct val="100000"/>
              </a:lnSpc>
              <a:spcBef>
                <a:spcPts val="135"/>
              </a:spcBef>
            </a:pPr>
            <a:endParaRPr sz="1400" dirty="0">
              <a:latin typeface="Arial"/>
              <a:cs typeface="Arial"/>
            </a:endParaRPr>
            <a:r>
              <a:rPr lang="ar-SA" altLang="en-US" sz="1400">
                <a:latin typeface="Arial"/>
              </a:rPr>
              <a:t>الفصل الأول: مقدمة</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197339" y="-1515"/>
            <a:ext cx="135763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من الأنظمة الشبكية إلى الأنظمة الموزعة</a:t>
            </a:r>
          </a:p>
        </p:txBody>
      </p:sp>
      <p:sp>
        <p:nvSpPr>
          <p:cNvPr id="5" name="object 5"/>
          <p:cNvSpPr txBox="1"/>
          <p:nvPr/>
        </p:nvSpPr>
        <p:spPr>
          <a:xfrm>
            <a:off x="95300" y="197711"/>
            <a:ext cx="2202815" cy="196849"/>
          </a:xfrm>
          <a:prstGeom prst="rect">
            <a:avLst/>
          </a:prstGeom>
        </p:spPr>
        <p:txBody>
          <a:bodyPr vert="horz" wrap="square" lIns="0" tIns="12065" rIns="0" bIns="0" rtlCol="0">
            <a:spAutoFit/>
          </a:bodyPr>
          <a:lstStyle/>
          <a:p>
            <a:pPr marL="12700" rtl="1">
              <a:lnSpc>
                <a:spcPct val="100000"/>
              </a:lnSpc>
              <a:spcBef>
                <a:spcPts val="95"/>
              </a:spcBef>
            </a:pPr>
            <a:endParaRPr sz="1200" dirty="0">
              <a:latin typeface="Arial"/>
              <a:cs typeface="Arial"/>
            </a:endParaRPr>
            <a:r>
              <a:rPr lang="ar-SA" altLang="en-US" sz="1200">
                <a:latin typeface="Arial"/>
              </a:rPr>
              <a:t>الأنظمة الموزعة مقابل الأنظمة اللامركزية</a:t>
            </a:r>
          </a:p>
        </p:txBody>
      </p:sp>
      <p:pic>
        <p:nvPicPr>
          <p:cNvPr id="6" name="object 6"/>
          <p:cNvPicPr/>
          <p:nvPr/>
        </p:nvPicPr>
        <p:blipFill>
          <a:blip r:embed="rId3" cstate="print"/>
          <a:stretch>
            <a:fillRect/>
          </a:stretch>
        </p:blipFill>
        <p:spPr>
          <a:xfrm>
            <a:off x="694728" y="1333041"/>
            <a:ext cx="580646" cy="330721"/>
          </a:xfrm>
          <a:prstGeom prst="rect">
            <a:avLst/>
          </a:prstGeom>
        </p:spPr>
      </p:pic>
      <p:pic>
        <p:nvPicPr>
          <p:cNvPr id="7" name="object 7"/>
          <p:cNvPicPr/>
          <p:nvPr/>
        </p:nvPicPr>
        <p:blipFill>
          <a:blip r:embed="rId4" cstate="print"/>
          <a:stretch>
            <a:fillRect/>
          </a:stretch>
        </p:blipFill>
        <p:spPr>
          <a:xfrm>
            <a:off x="1698688" y="792742"/>
            <a:ext cx="895637" cy="871021"/>
          </a:xfrm>
          <a:prstGeom prst="rect">
            <a:avLst/>
          </a:prstGeom>
        </p:spPr>
      </p:pic>
      <p:pic>
        <p:nvPicPr>
          <p:cNvPr id="8" name="object 8"/>
          <p:cNvPicPr/>
          <p:nvPr/>
        </p:nvPicPr>
        <p:blipFill>
          <a:blip r:embed="rId5" cstate="print"/>
          <a:stretch>
            <a:fillRect/>
          </a:stretch>
        </p:blipFill>
        <p:spPr>
          <a:xfrm>
            <a:off x="3017634" y="792742"/>
            <a:ext cx="895637" cy="871021"/>
          </a:xfrm>
          <a:prstGeom prst="rect">
            <a:avLst/>
          </a:prstGeom>
        </p:spPr>
      </p:pic>
      <p:sp>
        <p:nvSpPr>
          <p:cNvPr id="9" name="object 9"/>
          <p:cNvSpPr txBox="1"/>
          <p:nvPr/>
        </p:nvSpPr>
        <p:spPr>
          <a:xfrm>
            <a:off x="303250" y="1720908"/>
            <a:ext cx="3472179" cy="1030605"/>
          </a:xfrm>
          <a:prstGeom prst="rect">
            <a:avLst/>
          </a:prstGeom>
        </p:spPr>
        <p:txBody>
          <a:bodyPr vert="horz" wrap="square" lIns="0" tIns="12065" rIns="0" bIns="0" rtlCol="0">
            <a:spAutoFit/>
          </a:bodyPr>
          <a:lstStyle/>
          <a:p>
            <a:pPr marL="394970" rtl="1">
              <a:lnSpc>
                <a:spcPct val="100000"/>
              </a:lnSpc>
              <a:spcBef>
                <a:spcPts val="95"/>
              </a:spcBef>
              <a:tabLst>
                <a:tab pos="1496060" algn="l"/>
                <a:tab pos="2889885" algn="l"/>
              </a:tabLst>
            </a:pPr>
            <a:endParaRPr sz="900" dirty="0">
              <a:latin typeface="Arial"/>
              <a:cs typeface="Arial"/>
            </a:endParaRPr>
            <a:r>
              <a:rPr lang="ar-SA" altLang="en-US" sz="900">
                <a:latin typeface="Arial"/>
              </a:rPr>
              <a:t>مركزي	لامركزي	موزع</a:t>
            </a:r>
          </a:p>
          <a:p>
            <a:pPr>
              <a:lnSpc>
                <a:spcPct val="100000"/>
              </a:lnSpc>
              <a:spcBef>
                <a:spcPts val="10"/>
              </a:spcBef>
            </a:pPr>
            <a:endParaRPr sz="1250" dirty="0">
              <a:latin typeface="Arial"/>
              <a:cs typeface="Arial"/>
            </a:endParaRPr>
          </a:p>
          <a:p>
            <a:pPr marL="50800" rtl="1">
              <a:lnSpc>
                <a:spcPct val="100000"/>
              </a:lnSpc>
            </a:pPr>
            <a:endParaRPr sz="1000" dirty="0">
              <a:latin typeface="Arial"/>
              <a:cs typeface="Arial"/>
            </a:endParaRPr>
            <a:r>
              <a:rPr lang="ar-SA" altLang="en-US" sz="1000">
                <a:latin typeface="Arial"/>
              </a:rPr>
              <a:t>متى يصبح النظام اللامركزي نظامًا موزعًا؟</a:t>
            </a:r>
          </a:p>
          <a:p>
            <a:pPr marL="305435" indent="-116839" rtl="1">
              <a:lnSpc>
                <a:spcPct val="100000"/>
              </a:lnSpc>
              <a:spcBef>
                <a:spcPts val="700"/>
              </a:spcBef>
              <a:buClr>
                <a:srgbClr val="3333B2"/>
              </a:buClr>
              <a:buFont typeface="Menlo"/>
              <a:buChar char="•"/>
              <a:tabLst>
                <a:tab pos="306070" algn="l"/>
              </a:tabLst>
            </a:pPr>
            <a:endParaRPr sz="900" dirty="0">
              <a:latin typeface="Arial"/>
              <a:cs typeface="Arial"/>
            </a:endParaRPr>
            <a:r>
              <a:rPr lang="ar-SA" altLang="en-US" sz="900">
                <a:latin typeface="Arial"/>
              </a:rPr>
              <a:t>إضافة رابط واحد بين عقدتين في نظام لامركزي؟</a:t>
            </a:r>
          </a:p>
          <a:p>
            <a:pPr marL="305435" indent="-116839" rtl="1">
              <a:lnSpc>
                <a:spcPct val="100000"/>
              </a:lnSpc>
              <a:spcBef>
                <a:spcPts val="125"/>
              </a:spcBef>
              <a:buClr>
                <a:srgbClr val="3333B2"/>
              </a:buClr>
              <a:buFont typeface="Menlo"/>
              <a:buChar char="•"/>
              <a:tabLst>
                <a:tab pos="306070" algn="l"/>
              </a:tabLst>
            </a:pPr>
            <a:endParaRPr sz="900" dirty="0">
              <a:latin typeface="Arial"/>
              <a:cs typeface="Arial"/>
            </a:endParaRPr>
            <a:r>
              <a:rPr lang="ar-SA" altLang="en-US" sz="900">
                <a:latin typeface="Arial"/>
              </a:rPr>
              <a:t>إضافة رابطَين بين عقدتين أخريين؟</a:t>
            </a:r>
          </a:p>
          <a:p>
            <a:pPr marL="309245" indent="-120650" rtl="1">
              <a:lnSpc>
                <a:spcPct val="100000"/>
              </a:lnSpc>
              <a:spcBef>
                <a:spcPts val="125"/>
              </a:spcBef>
              <a:buClr>
                <a:srgbClr val="3333B2"/>
              </a:buClr>
              <a:buFont typeface="Menlo"/>
              <a:buChar char="•"/>
              <a:tabLst>
                <a:tab pos="309880" algn="l"/>
              </a:tabLst>
            </a:pPr>
            <a:endParaRPr sz="900" dirty="0">
              <a:latin typeface="Arial"/>
              <a:cs typeface="Arial"/>
            </a:endParaRPr>
            <a:r>
              <a:rPr lang="ar-SA" altLang="en-US" sz="900">
                <a:latin typeface="Arial"/>
              </a:rPr>
              <a:t>بشكل عام: إضافة k &gt; 0 من الروابط...؟</a:t>
            </a: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117157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الأنظمة الموزعة مقابل الأنظمة اللامركزية</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3155950" algn="l"/>
              </a:tabLst>
            </a:pPr>
            <a:endParaRPr sz="500">
              <a:latin typeface="Arial"/>
              <a:cs typeface="Arial"/>
            </a:endParaRPr>
            <a:r>
              <a:rPr lang="ar-SA" altLang="en-US" sz="500">
                <a:latin typeface="Arial"/>
              </a:rPr>
              <a:t>مقدمة	من الأنظمة الشبكية إلى الأنظمة الموزعة</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نهج بديل</a:t>
            </a:r>
          </a:p>
        </p:txBody>
      </p:sp>
      <p:sp>
        <p:nvSpPr>
          <p:cNvPr id="4" name="object 4"/>
          <p:cNvSpPr txBox="1"/>
          <p:nvPr/>
        </p:nvSpPr>
        <p:spPr>
          <a:xfrm>
            <a:off x="305282" y="514774"/>
            <a:ext cx="3992245" cy="2108200"/>
          </a:xfrm>
          <a:prstGeom prst="rect">
            <a:avLst/>
          </a:prstGeom>
        </p:spPr>
        <p:txBody>
          <a:bodyPr vert="horz" wrap="square" lIns="0" tIns="12065" rIns="0" bIns="0" rtlCol="0">
            <a:spAutoFit/>
          </a:bodyPr>
          <a:lstStyle/>
          <a:p>
            <a:pPr marL="50800" rtl="1">
              <a:lnSpc>
                <a:spcPct val="100000"/>
              </a:lnSpc>
              <a:spcBef>
                <a:spcPts val="95"/>
              </a:spcBef>
            </a:pPr>
            <a:endParaRPr sz="1000" dirty="0">
              <a:latin typeface="Arial"/>
              <a:cs typeface="Arial"/>
            </a:endParaRPr>
            <a:r>
              <a:rPr lang="ar-SA" altLang="en-US" sz="1000">
                <a:latin typeface="Arial"/>
              </a:rPr>
              <a:t>منظوران لتحقيق الأنظمة الموزعة</a:t>
            </a:r>
          </a:p>
          <a:p>
            <a:pPr marL="307340" marR="42545" indent="-120650" rtl="1">
              <a:lnSpc>
                <a:spcPct val="111600"/>
              </a:lnSpc>
              <a:spcBef>
                <a:spcPts val="580"/>
              </a:spcBef>
              <a:buFont typeface="Menlo"/>
              <a:buChar char="•"/>
              <a:tabLst>
                <a:tab pos="307975" algn="l"/>
              </a:tabLst>
            </a:pPr>
            <a:endParaRPr sz="900" dirty="0">
              <a:latin typeface="Arial"/>
              <a:cs typeface="Arial"/>
            </a:endParaRPr>
            <a:r>
              <a:rPr lang="ar-SA" altLang="en-US" sz="900">
                <a:latin typeface="Arial"/>
              </a:rPr>
              <a:t>المنظور التكاملي: ربط الأنظمة الحاسوبية الشبكية الموجودة في نظام أكبر.</a:t>
            </a:r>
          </a:p>
          <a:p>
            <a:pPr marL="303530" marR="163195" indent="-116205" rtl="1">
              <a:lnSpc>
                <a:spcPct val="111600"/>
              </a:lnSpc>
              <a:spcBef>
                <a:spcPts val="400"/>
              </a:spcBef>
              <a:buFont typeface="Menlo"/>
              <a:buChar char="•"/>
              <a:tabLst>
                <a:tab pos="307975" algn="l"/>
              </a:tabLst>
            </a:pPr>
            <a:endParaRPr sz="900" dirty="0">
              <a:latin typeface="Arial"/>
              <a:cs typeface="Arial"/>
            </a:endParaRPr>
            <a:r>
              <a:rPr lang="ar-SA" altLang="en-US" sz="900">
                <a:latin typeface="Arial"/>
              </a:rPr>
              <a:t>المنظور التوسعي: توسيع الأنظمة الحاسوبية الشبكية الموجودة بإضافة حواسيب إضافية.</a:t>
            </a:r>
          </a:p>
          <a:p>
            <a:pPr>
              <a:lnSpc>
                <a:spcPct val="100000"/>
              </a:lnSpc>
              <a:spcBef>
                <a:spcPts val="20"/>
              </a:spcBef>
              <a:buClr>
                <a:srgbClr val="3333B2"/>
              </a:buClr>
              <a:buFont typeface="Menlo"/>
              <a:buChar char="•"/>
            </a:pPr>
            <a:endParaRPr sz="1200" dirty="0">
              <a:latin typeface="Arial"/>
              <a:cs typeface="Arial"/>
            </a:endParaRPr>
          </a:p>
          <a:p>
            <a:pPr marL="50800" rtl="1">
              <a:lnSpc>
                <a:spcPct val="100000"/>
              </a:lnSpc>
            </a:pPr>
            <a:endParaRPr sz="1000" dirty="0">
              <a:latin typeface="Arial"/>
              <a:cs typeface="Arial"/>
            </a:endParaRPr>
            <a:r>
              <a:rPr lang="ar-SA" altLang="en-US" sz="1000">
                <a:latin typeface="Arial"/>
              </a:rPr>
              <a:t>تعريفان</a:t>
            </a:r>
          </a:p>
          <a:p>
            <a:pPr marL="307340" marR="400050" indent="-120650" rtl="1">
              <a:lnSpc>
                <a:spcPct val="111600"/>
              </a:lnSpc>
              <a:spcBef>
                <a:spcPts val="375"/>
              </a:spcBef>
              <a:buClr>
                <a:srgbClr val="3333B2"/>
              </a:buClr>
              <a:buFont typeface="Menlo"/>
              <a:buChar char="•"/>
              <a:tabLst>
                <a:tab pos="304165" algn="l"/>
              </a:tabLst>
            </a:pPr>
            <a:endParaRPr sz="900" dirty="0">
              <a:latin typeface="Arial"/>
              <a:cs typeface="Arial"/>
            </a:endParaRPr>
            <a:r>
              <a:rPr lang="ar-SA" altLang="en-US" sz="900">
                <a:latin typeface="Arial"/>
              </a:rPr>
              <a:t>النظام اللامركزي هو نظام حاسوبي شبكي تنتشر فيه العمليات والموارد بالضرورة عبر حواسيب متعددة.</a:t>
            </a:r>
          </a:p>
          <a:p>
            <a:pPr marL="307340" marR="43180" indent="-120650" rtl="1">
              <a:lnSpc>
                <a:spcPct val="111600"/>
              </a:lnSpc>
              <a:spcBef>
                <a:spcPts val="400"/>
              </a:spcBef>
              <a:buClr>
                <a:srgbClr val="3333B2"/>
              </a:buClr>
              <a:buFont typeface="Menlo"/>
              <a:buChar char="•"/>
              <a:tabLst>
                <a:tab pos="304165" algn="l"/>
              </a:tabLst>
            </a:pPr>
            <a:endParaRPr sz="900" dirty="0">
              <a:latin typeface="Arial"/>
              <a:cs typeface="Arial"/>
            </a:endParaRPr>
            <a:r>
              <a:rPr lang="ar-SA" altLang="en-US" sz="900">
                <a:latin typeface="Arial"/>
              </a:rPr>
              <a:t>النظام الموزع هو نظام حاسوبي شبكي تنتشر فيه العمليات والموارد بشكل كافٍ عبر حواسيب متعددة.</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7157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الأنظمة الموزعة مقابل الأنظمة اللامركزية</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1702435" cy="20764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شفافية التوزيع</a:t>
            </a:r>
          </a:p>
        </p:txBody>
      </p:sp>
      <p:pic>
        <p:nvPicPr>
          <p:cNvPr id="6" name="object 6"/>
          <p:cNvPicPr/>
          <p:nvPr/>
        </p:nvPicPr>
        <p:blipFill>
          <a:blip r:embed="rId4" cstate="print"/>
          <a:stretch>
            <a:fillRect/>
          </a:stretch>
        </p:blipFill>
        <p:spPr>
          <a:xfrm>
            <a:off x="725881" y="562907"/>
            <a:ext cx="3156238" cy="1237504"/>
          </a:xfrm>
          <a:prstGeom prst="rect">
            <a:avLst/>
          </a:prstGeom>
        </p:spPr>
      </p:pic>
      <p:sp>
        <p:nvSpPr>
          <p:cNvPr id="7" name="object 7"/>
          <p:cNvSpPr txBox="1"/>
          <p:nvPr/>
        </p:nvSpPr>
        <p:spPr>
          <a:xfrm>
            <a:off x="341350" y="1885089"/>
            <a:ext cx="3905250" cy="1261110"/>
          </a:xfrm>
          <a:prstGeom prst="rect">
            <a:avLst/>
          </a:prstGeom>
        </p:spPr>
        <p:txBody>
          <a:bodyPr vert="horz" wrap="square" lIns="0" tIns="55244" rIns="0" bIns="0" rtlCol="0">
            <a:spAutoFit/>
          </a:bodyPr>
          <a:lstStyle/>
          <a:p>
            <a:pPr marL="12700" rtl="1">
              <a:lnSpc>
                <a:spcPct val="100000"/>
              </a:lnSpc>
              <a:spcBef>
                <a:spcPts val="434"/>
              </a:spcBef>
            </a:pPr>
            <a:endParaRPr sz="1000">
              <a:latin typeface="Arial"/>
              <a:cs typeface="Arial"/>
            </a:endParaRPr>
            <a:r>
              <a:rPr lang="ar-SA" altLang="en-US" sz="1000">
                <a:latin typeface="Arial"/>
              </a:rPr>
              <a:t>ما المقصود بالشفافية؟</a:t>
            </a:r>
          </a:p>
          <a:p>
            <a:pPr marL="18415" marR="5080" rtl="1">
              <a:lnSpc>
                <a:spcPct val="111600"/>
              </a:lnSpc>
              <a:spcBef>
                <a:spcPts val="175"/>
              </a:spcBef>
            </a:pPr>
            <a:endParaRPr sz="900">
              <a:latin typeface="Arial"/>
              <a:cs typeface="Arial"/>
            </a:endParaRPr>
            <a:r>
              <a:rPr lang="ar-SA" altLang="en-US" sz="900" i="1">
                <a:latin typeface="Arial"/>
              </a:rPr>
              <a:t>الظاهرة التي يسعى من خلالها النظام الموزع إلى إخفاء حقيقة أن عملياته وموارده موزعة فعليًا عبر حواسيب متعددة قد تفصل بينها مسافات شاسعة.</a:t>
            </a:r>
          </a:p>
          <a:p>
            <a:pPr marL="18415" rtl="1">
              <a:lnSpc>
                <a:spcPct val="100000"/>
              </a:lnSpc>
              <a:spcBef>
                <a:spcPts val="810"/>
              </a:spcBef>
            </a:pPr>
            <a:endParaRPr sz="1000">
              <a:latin typeface="Arial"/>
              <a:cs typeface="Arial"/>
            </a:endParaRPr>
            <a:r>
              <a:rPr lang="ar-SA" altLang="en-US" sz="1000">
                <a:latin typeface="Arial"/>
              </a:rPr>
              <a:t>ملاحظة</a:t>
            </a:r>
          </a:p>
          <a:p>
            <a:pPr marL="18415" marR="107950" rtl="1">
              <a:lnSpc>
                <a:spcPts val="1210"/>
              </a:lnSpc>
              <a:spcBef>
                <a:spcPts val="40"/>
              </a:spcBef>
            </a:pPr>
            <a:endParaRPr sz="900">
              <a:latin typeface="Arial"/>
              <a:cs typeface="Arial"/>
            </a:endParaRPr>
            <a:r>
              <a:rPr lang="ar-SA" altLang="en-US" sz="900">
                <a:latin typeface="Arial"/>
              </a:rPr>
              <a:t>تُعالَج شفافية التوزيع من خلال تقنيات متعددة في طبقة وسيطة بين التطبيقات وأنظمة التشغيل تُعرف بـ: طبقة البرمجيات الوسيطة (Middleware).</a:t>
            </a: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2453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شفافية التوزيع</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1702435" cy="49466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شفافية التوزيع</a:t>
            </a:r>
          </a:p>
          <a:p>
            <a:pPr marL="260350" rtl="1">
              <a:lnSpc>
                <a:spcPct val="100000"/>
              </a:lnSpc>
              <a:spcBef>
                <a:spcPts val="1055"/>
              </a:spcBef>
            </a:pPr>
            <a:endParaRPr sz="1000">
              <a:latin typeface="Arial"/>
              <a:cs typeface="Arial"/>
            </a:endParaRPr>
            <a:r>
              <a:rPr lang="ar-SA" altLang="en-US" sz="1000">
                <a:latin typeface="Arial"/>
              </a:rPr>
              <a:t>الأنواع</a:t>
            </a:r>
          </a:p>
        </p:txBody>
      </p:sp>
      <p:graphicFrame>
        <p:nvGraphicFramePr>
          <p:cNvPr id="6" name="object 6"/>
          <p:cNvGraphicFramePr>
            <a:graphicFrameLocks noGrp="1"/>
          </p:cNvGraphicFramePr>
          <p:nvPr/>
        </p:nvGraphicFramePr>
        <p:xfrm>
          <a:off x="443141" y="792708"/>
          <a:ext cx="3716654" cy="1859915"/>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2878454">
                  <a:extLst>
                    <a:ext uri="{9D8B030D-6E8A-4147-A177-3AD203B41FA5}">
                      <a16:colId xmlns:a16="http://schemas.microsoft.com/office/drawing/2014/main" val="20001"/>
                    </a:ext>
                  </a:extLst>
                </a:gridCol>
              </a:tblGrid>
              <a:tr h="180340">
                <a:tc>
                  <a:txBody>
                    <a:bodyPr/>
                    <a:lstStyle/>
                    <a:p>
                      <a:pPr marL="78105">
                        <a:lnSpc>
                          <a:spcPct val="100000"/>
                        </a:lnSpc>
                        <a:spcBef>
                          <a:spcPts val="45"/>
                        </a:spcBef>
                      </a:pPr>
                      <a:r>
                        <a:rPr sz="900" spc="-10" dirty="0">
                          <a:solidFill>
                            <a:srgbClr val="3333B2"/>
                          </a:solidFill>
                          <a:latin typeface="Arial"/>
                          <a:cs typeface="Arial"/>
                        </a:rPr>
                        <a:t>Transparency</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45"/>
                        </a:spcBef>
                      </a:pPr>
                      <a:r>
                        <a:rPr sz="900" spc="-10" dirty="0">
                          <a:solidFill>
                            <a:srgbClr val="3333B2"/>
                          </a:solidFill>
                          <a:latin typeface="Arial"/>
                          <a:cs typeface="Arial"/>
                        </a:rPr>
                        <a:t>Description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33375">
                <a:tc>
                  <a:txBody>
                    <a:bodyPr/>
                    <a:lstStyle/>
                    <a:p>
                      <a:pPr marL="78105">
                        <a:lnSpc>
                          <a:spcPct val="100000"/>
                        </a:lnSpc>
                        <a:spcBef>
                          <a:spcPts val="100"/>
                        </a:spcBef>
                      </a:pPr>
                      <a:r>
                        <a:rPr sz="900" spc="-10" dirty="0">
                          <a:solidFill>
                            <a:srgbClr val="C80000"/>
                          </a:solidFill>
                          <a:latin typeface="Arial"/>
                          <a:cs typeface="Arial"/>
                        </a:rPr>
                        <a:t>Access</a:t>
                      </a:r>
                      <a:endParaRPr sz="900">
                        <a:latin typeface="Arial"/>
                        <a:cs typeface="Arial"/>
                      </a:endParaRPr>
                    </a:p>
                  </a:txBody>
                  <a:tcPr marL="0" marR="0" marT="1270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220979">
                        <a:lnSpc>
                          <a:spcPts val="1210"/>
                        </a:lnSpc>
                        <a:spcBef>
                          <a:spcPts val="35"/>
                        </a:spcBef>
                      </a:pPr>
                      <a:r>
                        <a:rPr sz="900" dirty="0">
                          <a:latin typeface="Arial"/>
                          <a:cs typeface="Arial"/>
                        </a:rPr>
                        <a:t>Hide</a:t>
                      </a:r>
                      <a:r>
                        <a:rPr sz="900" spc="-5" dirty="0">
                          <a:latin typeface="Arial"/>
                          <a:cs typeface="Arial"/>
                        </a:rPr>
                        <a:t> </a:t>
                      </a:r>
                      <a:r>
                        <a:rPr sz="900" spc="-10" dirty="0">
                          <a:latin typeface="Arial"/>
                          <a:cs typeface="Arial"/>
                        </a:rPr>
                        <a:t>differences</a:t>
                      </a:r>
                      <a:r>
                        <a:rPr sz="900" dirty="0">
                          <a:latin typeface="Arial"/>
                          <a:cs typeface="Arial"/>
                        </a:rPr>
                        <a:t> in data </a:t>
                      </a:r>
                      <a:r>
                        <a:rPr sz="900" spc="-10" dirty="0">
                          <a:latin typeface="Arial"/>
                          <a:cs typeface="Arial"/>
                        </a:rPr>
                        <a:t>representation</a:t>
                      </a:r>
                      <a:r>
                        <a:rPr sz="900" dirty="0">
                          <a:latin typeface="Arial"/>
                          <a:cs typeface="Arial"/>
                        </a:rPr>
                        <a:t> and</a:t>
                      </a:r>
                      <a:r>
                        <a:rPr sz="900" spc="-5" dirty="0">
                          <a:latin typeface="Arial"/>
                          <a:cs typeface="Arial"/>
                        </a:rPr>
                        <a:t> </a:t>
                      </a:r>
                      <a:r>
                        <a:rPr sz="900" dirty="0">
                          <a:latin typeface="Arial"/>
                          <a:cs typeface="Arial"/>
                        </a:rPr>
                        <a:t>how </a:t>
                      </a:r>
                      <a:r>
                        <a:rPr sz="900" spc="-25" dirty="0">
                          <a:latin typeface="Arial"/>
                          <a:cs typeface="Arial"/>
                        </a:rPr>
                        <a:t>an </a:t>
                      </a:r>
                      <a:r>
                        <a:rPr sz="900" dirty="0">
                          <a:latin typeface="Arial"/>
                          <a:cs typeface="Arial"/>
                        </a:rPr>
                        <a:t>object</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accessed</a:t>
                      </a:r>
                      <a:endParaRPr sz="900">
                        <a:latin typeface="Arial"/>
                        <a:cs typeface="Arial"/>
                      </a:endParaRPr>
                    </a:p>
                  </a:txBody>
                  <a:tcPr marL="0" marR="0" marT="444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3355">
                <a:tc>
                  <a:txBody>
                    <a:bodyPr/>
                    <a:lstStyle/>
                    <a:p>
                      <a:pPr marL="78105">
                        <a:lnSpc>
                          <a:spcPct val="100000"/>
                        </a:lnSpc>
                        <a:spcBef>
                          <a:spcPts val="45"/>
                        </a:spcBef>
                      </a:pPr>
                      <a:r>
                        <a:rPr sz="900" spc="-10" dirty="0">
                          <a:solidFill>
                            <a:srgbClr val="C80000"/>
                          </a:solidFill>
                          <a:latin typeface="Arial"/>
                          <a:cs typeface="Arial"/>
                        </a:rPr>
                        <a:t>Location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25" dirty="0">
                          <a:latin typeface="Arial"/>
                          <a:cs typeface="Arial"/>
                        </a:rPr>
                        <a:t> </a:t>
                      </a:r>
                      <a:r>
                        <a:rPr sz="900" dirty="0">
                          <a:latin typeface="Arial"/>
                          <a:cs typeface="Arial"/>
                        </a:rPr>
                        <a:t>where</a:t>
                      </a:r>
                      <a:r>
                        <a:rPr sz="900" spc="-20"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object</a:t>
                      </a:r>
                      <a:r>
                        <a:rPr sz="900" spc="-20"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located</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6390">
                <a:tc>
                  <a:txBody>
                    <a:bodyPr/>
                    <a:lstStyle/>
                    <a:p>
                      <a:pPr marL="78105">
                        <a:lnSpc>
                          <a:spcPct val="100000"/>
                        </a:lnSpc>
                        <a:spcBef>
                          <a:spcPts val="45"/>
                        </a:spcBef>
                      </a:pPr>
                      <a:r>
                        <a:rPr sz="900" spc="-10" dirty="0">
                          <a:solidFill>
                            <a:srgbClr val="C80000"/>
                          </a:solidFill>
                          <a:latin typeface="Arial"/>
                          <a:cs typeface="Arial"/>
                        </a:rPr>
                        <a:t>Relocation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object</a:t>
                      </a:r>
                      <a:r>
                        <a:rPr sz="900" spc="-25"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moved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another</a:t>
                      </a:r>
                      <a:r>
                        <a:rPr sz="900" spc="-25" dirty="0">
                          <a:latin typeface="Arial"/>
                          <a:cs typeface="Arial"/>
                        </a:rPr>
                        <a:t> </a:t>
                      </a:r>
                      <a:r>
                        <a:rPr sz="900" spc="-10" dirty="0">
                          <a:latin typeface="Arial"/>
                          <a:cs typeface="Arial"/>
                        </a:rPr>
                        <a:t>location</a:t>
                      </a:r>
                      <a:endParaRPr sz="900">
                        <a:latin typeface="Arial"/>
                        <a:cs typeface="Arial"/>
                      </a:endParaRPr>
                    </a:p>
                    <a:p>
                      <a:pPr marL="74295">
                        <a:lnSpc>
                          <a:spcPct val="100000"/>
                        </a:lnSpc>
                        <a:spcBef>
                          <a:spcPts val="125"/>
                        </a:spcBef>
                      </a:pPr>
                      <a:r>
                        <a:rPr sz="900" dirty="0">
                          <a:latin typeface="Arial"/>
                          <a:cs typeface="Arial"/>
                        </a:rPr>
                        <a:t>while</a:t>
                      </a:r>
                      <a:r>
                        <a:rPr sz="900" spc="-20" dirty="0">
                          <a:latin typeface="Arial"/>
                          <a:cs typeface="Arial"/>
                        </a:rPr>
                        <a:t> </a:t>
                      </a:r>
                      <a:r>
                        <a:rPr sz="900" dirty="0">
                          <a:latin typeface="Arial"/>
                          <a:cs typeface="Arial"/>
                        </a:rPr>
                        <a:t>in</a:t>
                      </a:r>
                      <a:r>
                        <a:rPr sz="900" spc="-20" dirty="0">
                          <a:latin typeface="Arial"/>
                          <a:cs typeface="Arial"/>
                        </a:rPr>
                        <a:t> </a:t>
                      </a:r>
                      <a:r>
                        <a:rPr sz="900" spc="-25" dirty="0">
                          <a:latin typeface="Arial"/>
                          <a:cs typeface="Arial"/>
                        </a:rPr>
                        <a:t>use</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73355">
                <a:tc>
                  <a:txBody>
                    <a:bodyPr/>
                    <a:lstStyle/>
                    <a:p>
                      <a:pPr marL="78105">
                        <a:lnSpc>
                          <a:spcPct val="100000"/>
                        </a:lnSpc>
                        <a:spcBef>
                          <a:spcPts val="45"/>
                        </a:spcBef>
                      </a:pPr>
                      <a:r>
                        <a:rPr sz="900" spc="-10" dirty="0">
                          <a:solidFill>
                            <a:srgbClr val="C80000"/>
                          </a:solidFill>
                          <a:latin typeface="Arial"/>
                          <a:cs typeface="Arial"/>
                        </a:rPr>
                        <a:t>Migration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an</a:t>
                      </a:r>
                      <a:r>
                        <a:rPr sz="900" spc="-30" dirty="0">
                          <a:latin typeface="Arial"/>
                          <a:cs typeface="Arial"/>
                        </a:rPr>
                        <a:t> </a:t>
                      </a:r>
                      <a:r>
                        <a:rPr sz="900" dirty="0">
                          <a:latin typeface="Arial"/>
                          <a:cs typeface="Arial"/>
                        </a:rPr>
                        <a:t>object</a:t>
                      </a:r>
                      <a:r>
                        <a:rPr sz="900" spc="-25" dirty="0">
                          <a:latin typeface="Arial"/>
                          <a:cs typeface="Arial"/>
                        </a:rPr>
                        <a:t> </a:t>
                      </a:r>
                      <a:r>
                        <a:rPr sz="900" dirty="0">
                          <a:latin typeface="Arial"/>
                          <a:cs typeface="Arial"/>
                        </a:rPr>
                        <a:t>may</a:t>
                      </a:r>
                      <a:r>
                        <a:rPr sz="900" spc="-25" dirty="0">
                          <a:latin typeface="Arial"/>
                          <a:cs typeface="Arial"/>
                        </a:rPr>
                        <a:t> </a:t>
                      </a:r>
                      <a:r>
                        <a:rPr sz="900" spc="-10" dirty="0">
                          <a:latin typeface="Arial"/>
                          <a:cs typeface="Arial"/>
                        </a:rPr>
                        <a:t>move</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another</a:t>
                      </a:r>
                      <a:r>
                        <a:rPr sz="900" spc="-25" dirty="0">
                          <a:latin typeface="Arial"/>
                          <a:cs typeface="Arial"/>
                        </a:rPr>
                        <a:t> </a:t>
                      </a:r>
                      <a:r>
                        <a:rPr sz="900" spc="-10" dirty="0">
                          <a:latin typeface="Arial"/>
                          <a:cs typeface="Arial"/>
                        </a:rPr>
                        <a:t>location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73355">
                <a:tc>
                  <a:txBody>
                    <a:bodyPr/>
                    <a:lstStyle/>
                    <a:p>
                      <a:pPr marL="78105">
                        <a:lnSpc>
                          <a:spcPct val="100000"/>
                        </a:lnSpc>
                        <a:spcBef>
                          <a:spcPts val="45"/>
                        </a:spcBef>
                      </a:pPr>
                      <a:r>
                        <a:rPr sz="900" spc="-10" dirty="0">
                          <a:solidFill>
                            <a:srgbClr val="C80000"/>
                          </a:solidFill>
                          <a:latin typeface="Arial"/>
                          <a:cs typeface="Arial"/>
                        </a:rPr>
                        <a:t>Replication</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an</a:t>
                      </a:r>
                      <a:r>
                        <a:rPr sz="900" spc="-20" dirty="0">
                          <a:latin typeface="Arial"/>
                          <a:cs typeface="Arial"/>
                        </a:rPr>
                        <a:t> </a:t>
                      </a:r>
                      <a:r>
                        <a:rPr sz="900" dirty="0">
                          <a:latin typeface="Arial"/>
                          <a:cs typeface="Arial"/>
                        </a:rPr>
                        <a:t>object</a:t>
                      </a:r>
                      <a:r>
                        <a:rPr sz="900" spc="-20"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replicated</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26390">
                <a:tc>
                  <a:txBody>
                    <a:bodyPr/>
                    <a:lstStyle/>
                    <a:p>
                      <a:pPr marL="78105">
                        <a:lnSpc>
                          <a:spcPct val="100000"/>
                        </a:lnSpc>
                        <a:spcBef>
                          <a:spcPts val="45"/>
                        </a:spcBef>
                      </a:pPr>
                      <a:r>
                        <a:rPr sz="900" spc="-10" dirty="0">
                          <a:solidFill>
                            <a:srgbClr val="C80000"/>
                          </a:solidFill>
                          <a:latin typeface="Arial"/>
                          <a:cs typeface="Arial"/>
                        </a:rPr>
                        <a:t>Concurrency</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object</a:t>
                      </a:r>
                      <a:r>
                        <a:rPr sz="900" spc="-30"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shared</a:t>
                      </a:r>
                      <a:r>
                        <a:rPr sz="900" spc="-25" dirty="0">
                          <a:latin typeface="Arial"/>
                          <a:cs typeface="Arial"/>
                        </a:rPr>
                        <a:t> </a:t>
                      </a:r>
                      <a:r>
                        <a:rPr sz="900" dirty="0">
                          <a:latin typeface="Arial"/>
                          <a:cs typeface="Arial"/>
                        </a:rPr>
                        <a:t>by</a:t>
                      </a:r>
                      <a:r>
                        <a:rPr sz="900" spc="-30" dirty="0">
                          <a:latin typeface="Arial"/>
                          <a:cs typeface="Arial"/>
                        </a:rPr>
                        <a:t> </a:t>
                      </a:r>
                      <a:r>
                        <a:rPr sz="900" spc="-10" dirty="0">
                          <a:latin typeface="Arial"/>
                          <a:cs typeface="Arial"/>
                        </a:rPr>
                        <a:t>several</a:t>
                      </a:r>
                      <a:endParaRPr sz="900">
                        <a:latin typeface="Arial"/>
                        <a:cs typeface="Arial"/>
                      </a:endParaRPr>
                    </a:p>
                    <a:p>
                      <a:pPr marL="78105">
                        <a:lnSpc>
                          <a:spcPct val="100000"/>
                        </a:lnSpc>
                        <a:spcBef>
                          <a:spcPts val="125"/>
                        </a:spcBef>
                      </a:pPr>
                      <a:r>
                        <a:rPr sz="900" dirty="0">
                          <a:latin typeface="Arial"/>
                          <a:cs typeface="Arial"/>
                        </a:rPr>
                        <a:t>independent</a:t>
                      </a:r>
                      <a:r>
                        <a:rPr sz="900" spc="-55" dirty="0">
                          <a:latin typeface="Arial"/>
                          <a:cs typeface="Arial"/>
                        </a:rPr>
                        <a:t> </a:t>
                      </a:r>
                      <a:r>
                        <a:rPr sz="900" spc="-10" dirty="0">
                          <a:latin typeface="Arial"/>
                          <a:cs typeface="Arial"/>
                        </a:rPr>
                        <a:t>users</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173355">
                <a:tc>
                  <a:txBody>
                    <a:bodyPr/>
                    <a:lstStyle/>
                    <a:p>
                      <a:pPr marL="78105">
                        <a:lnSpc>
                          <a:spcPct val="100000"/>
                        </a:lnSpc>
                        <a:spcBef>
                          <a:spcPts val="45"/>
                        </a:spcBef>
                      </a:pPr>
                      <a:r>
                        <a:rPr sz="900" spc="-10" dirty="0">
                          <a:solidFill>
                            <a:srgbClr val="C80000"/>
                          </a:solidFill>
                          <a:latin typeface="Arial"/>
                          <a:cs typeface="Arial"/>
                        </a:rPr>
                        <a:t>Failure</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5"/>
                        </a:spcBef>
                      </a:pPr>
                      <a:r>
                        <a:rPr sz="900" dirty="0">
                          <a:latin typeface="Arial"/>
                          <a:cs typeface="Arial"/>
                        </a:rPr>
                        <a:t>Hide</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failure</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recovery</a:t>
                      </a:r>
                      <a:r>
                        <a:rPr sz="900" spc="-2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an</a:t>
                      </a:r>
                      <a:r>
                        <a:rPr sz="900" spc="-30" dirty="0">
                          <a:latin typeface="Arial"/>
                          <a:cs typeface="Arial"/>
                        </a:rPr>
                        <a:t> </a:t>
                      </a:r>
                      <a:r>
                        <a:rPr sz="900" spc="-10" dirty="0">
                          <a:latin typeface="Arial"/>
                          <a:cs typeface="Arial"/>
                        </a:rPr>
                        <a:t>object</a:t>
                      </a:r>
                      <a:endParaRPr sz="900">
                        <a:latin typeface="Arial"/>
                        <a:cs typeface="Arial"/>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2453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شفافية التوزيع</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درجة الشفافية</a:t>
            </a:r>
          </a:p>
        </p:txBody>
      </p:sp>
      <p:sp>
        <p:nvSpPr>
          <p:cNvPr id="4" name="object 4"/>
          <p:cNvSpPr txBox="1"/>
          <p:nvPr/>
        </p:nvSpPr>
        <p:spPr>
          <a:xfrm>
            <a:off x="330428" y="514774"/>
            <a:ext cx="3943350" cy="1908810"/>
          </a:xfrm>
          <a:prstGeom prst="rect">
            <a:avLst/>
          </a:prstGeom>
        </p:spPr>
        <p:txBody>
          <a:bodyPr vert="horz" wrap="square" lIns="0" tIns="12065" rIns="0" bIns="0" rtlCol="0">
            <a:spAutoFit/>
          </a:bodyPr>
          <a:lstStyle/>
          <a:p>
            <a:pPr marL="25400" rtl="1">
              <a:lnSpc>
                <a:spcPct val="100000"/>
              </a:lnSpc>
              <a:spcBef>
                <a:spcPts val="95"/>
              </a:spcBef>
            </a:pPr>
            <a:endParaRPr sz="1000">
              <a:latin typeface="Arial"/>
              <a:cs typeface="Arial"/>
            </a:endParaRPr>
            <a:r>
              <a:rPr lang="ar-SA" altLang="en-US" sz="1000">
                <a:latin typeface="Arial"/>
              </a:rPr>
              <a:t>قد يكون السعي نحو شفافية توزيع كاملة مبالغًا فيه</a:t>
            </a:r>
          </a:p>
          <a:p>
            <a:pPr marL="278765" indent="-117475" rtl="1">
              <a:lnSpc>
                <a:spcPct val="100000"/>
              </a:lnSpc>
              <a:spcBef>
                <a:spcPts val="710"/>
              </a:spcBef>
              <a:buClr>
                <a:srgbClr val="3333B2"/>
              </a:buClr>
              <a:buFont typeface="Menlo"/>
              <a:buChar char="•"/>
              <a:tabLst>
                <a:tab pos="279400" algn="l"/>
              </a:tabLst>
            </a:pPr>
            <a:endParaRPr sz="900">
              <a:latin typeface="Arial"/>
              <a:cs typeface="Arial"/>
            </a:endParaRPr>
            <a:r>
              <a:rPr lang="ar-SA" altLang="en-US" sz="900">
                <a:latin typeface="Arial"/>
              </a:rPr>
              <a:t>ثمة تأخيرات في الاتصال لا يمكن إخفاؤها</a:t>
            </a:r>
          </a:p>
          <a:p>
            <a:pPr marL="282575" marR="161925" indent="-120650" rtl="1">
              <a:lnSpc>
                <a:spcPct val="111600"/>
              </a:lnSpc>
              <a:spcBef>
                <a:spcPts val="295"/>
              </a:spcBef>
              <a:buClr>
                <a:srgbClr val="3333B2"/>
              </a:buClr>
              <a:buFont typeface="Menlo"/>
              <a:buChar char="•"/>
              <a:tabLst>
                <a:tab pos="283210" algn="l"/>
              </a:tabLst>
            </a:pPr>
            <a:endParaRPr sz="900">
              <a:latin typeface="Arial"/>
              <a:cs typeface="Arial"/>
            </a:endParaRPr>
            <a:r>
              <a:rPr lang="ar-SA" altLang="en-US" sz="900">
                <a:latin typeface="Arial"/>
              </a:rPr>
              <a:t>إخفاء أعطال الشبكات والعقد بالكامل أمر مستحيل (نظريًا وعمليًا)</a:t>
            </a:r>
          </a:p>
          <a:p>
            <a:pPr marL="531495" lvl="1" indent="-116839" rtl="1">
              <a:lnSpc>
                <a:spcPct val="100000"/>
              </a:lnSpc>
              <a:spcBef>
                <a:spcPts val="325"/>
              </a:spcBef>
              <a:buClr>
                <a:srgbClr val="3333B2"/>
              </a:buClr>
              <a:buFont typeface="Menlo"/>
              <a:buChar char="•"/>
              <a:tabLst>
                <a:tab pos="532130" algn="l"/>
              </a:tabLst>
            </a:pPr>
            <a:endParaRPr sz="900">
              <a:latin typeface="Arial"/>
              <a:cs typeface="Arial"/>
            </a:endParaRPr>
            <a:r>
              <a:rPr lang="ar-SA" altLang="en-US" sz="900">
                <a:latin typeface="Arial"/>
              </a:rPr>
              <a:t>لا يمكنك التمييز بين حاسوب بطيء وآخر معطوب</a:t>
            </a:r>
          </a:p>
          <a:p>
            <a:pPr marL="535305" marR="17780" lvl="1" indent="-120650" rtl="1">
              <a:lnSpc>
                <a:spcPct val="111600"/>
              </a:lnSpc>
              <a:buClr>
                <a:srgbClr val="3333B2"/>
              </a:buClr>
              <a:buFont typeface="Menlo"/>
              <a:buChar char="•"/>
              <a:tabLst>
                <a:tab pos="532130" algn="l"/>
              </a:tabLst>
            </a:pPr>
            <a:endParaRPr sz="900">
              <a:latin typeface="Arial"/>
              <a:cs typeface="Arial"/>
            </a:endParaRPr>
            <a:r>
              <a:rPr lang="ar-SA" altLang="en-US" sz="900">
                <a:latin typeface="Arial"/>
              </a:rPr>
              <a:t>لا يمكنك التأكد أبدًا من أن الخادم نفّذ عملية ما قبل توقفه المفاجئ</a:t>
            </a:r>
          </a:p>
          <a:p>
            <a:pPr marL="282575" marR="266065" indent="-120650" rtl="1">
              <a:lnSpc>
                <a:spcPct val="111600"/>
              </a:lnSpc>
              <a:spcBef>
                <a:spcPts val="300"/>
              </a:spcBef>
              <a:buClr>
                <a:srgbClr val="3333B2"/>
              </a:buClr>
              <a:buFont typeface="Menlo"/>
              <a:buChar char="•"/>
              <a:tabLst>
                <a:tab pos="283210" algn="l"/>
              </a:tabLst>
            </a:pPr>
            <a:endParaRPr sz="900">
              <a:latin typeface="Arial"/>
              <a:cs typeface="Arial"/>
            </a:endParaRPr>
            <a:r>
              <a:rPr lang="ar-SA" altLang="en-US" sz="900">
                <a:latin typeface="Arial"/>
              </a:rPr>
              <a:t>الشفافية الكاملة تُكلّف أداءً، وتكشف عن توزيع النظام</a:t>
            </a:r>
          </a:p>
          <a:p>
            <a:pPr marL="535305" lvl="1" indent="-120650" rtl="1">
              <a:lnSpc>
                <a:spcPct val="100000"/>
              </a:lnSpc>
              <a:spcBef>
                <a:spcPts val="325"/>
              </a:spcBef>
              <a:buClr>
                <a:srgbClr val="3333B2"/>
              </a:buClr>
              <a:buFont typeface="Menlo"/>
              <a:buChar char="•"/>
              <a:tabLst>
                <a:tab pos="535940" algn="l"/>
              </a:tabLst>
            </a:pPr>
            <a:endParaRPr sz="900">
              <a:latin typeface="Arial"/>
              <a:cs typeface="Arial"/>
            </a:endParaRPr>
            <a:r>
              <a:rPr lang="ar-SA" altLang="en-US" sz="900">
                <a:latin typeface="Arial"/>
              </a:rPr>
              <a:t>إبقاء النسخ المتطابقة محدّثة تمامًا مع النسخة الرئيسية يستغرق وقتًا</a:t>
            </a:r>
          </a:p>
          <a:p>
            <a:pPr marL="535305" lvl="1" indent="-120650" rtl="1">
              <a:lnSpc>
                <a:spcPct val="100000"/>
              </a:lnSpc>
              <a:spcBef>
                <a:spcPts val="125"/>
              </a:spcBef>
              <a:buClr>
                <a:srgbClr val="3333B2"/>
              </a:buClr>
              <a:buFont typeface="Menlo"/>
              <a:buChar char="•"/>
              <a:tabLst>
                <a:tab pos="535940" algn="l"/>
              </a:tabLst>
            </a:pPr>
            <a:endParaRPr sz="900">
              <a:latin typeface="Arial"/>
              <a:cs typeface="Arial"/>
            </a:endParaRPr>
            <a:r>
              <a:rPr lang="ar-SA" altLang="en-US" sz="900">
                <a:latin typeface="Arial"/>
              </a:rPr>
              <a:t>تفريغ عمليات الكتابة فورًا على القرص لتحقيق تحمّل الأخطاء</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2453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شفافية التوزيع</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57200" y="197711"/>
            <a:ext cx="4215130" cy="1917064"/>
          </a:xfrm>
          <a:prstGeom prst="rect">
            <a:avLst/>
          </a:prstGeom>
        </p:spPr>
        <p:txBody>
          <a:bodyPr vert="horz" wrap="square" lIns="0" tIns="12065" rIns="0" bIns="0" rtlCol="0">
            <a:spAutoFit/>
          </a:bodyPr>
          <a:lstStyle/>
          <a:p>
            <a:pPr marL="50800" rtl="1">
              <a:lnSpc>
                <a:spcPct val="100000"/>
              </a:lnSpc>
              <a:spcBef>
                <a:spcPts val="95"/>
              </a:spcBef>
            </a:pPr>
            <a:endParaRPr sz="1200">
              <a:latin typeface="Arial"/>
              <a:cs typeface="Arial"/>
            </a:endParaRPr>
            <a:r>
              <a:rPr lang="ar-SA" altLang="en-US" sz="1200">
                <a:latin typeface="Arial"/>
              </a:rPr>
              <a:t>درجة الشفافية</a:t>
            </a:r>
          </a:p>
          <a:p>
            <a:pPr marL="302260" rtl="1">
              <a:lnSpc>
                <a:spcPct val="100000"/>
              </a:lnSpc>
              <a:spcBef>
                <a:spcPts val="1055"/>
              </a:spcBef>
            </a:pPr>
            <a:endParaRPr sz="1000">
              <a:latin typeface="Arial"/>
              <a:cs typeface="Arial"/>
            </a:endParaRPr>
            <a:r>
              <a:rPr lang="ar-SA" altLang="en-US" sz="1000">
                <a:latin typeface="Arial"/>
              </a:rPr>
              <a:t>قد يكون الكشف عن التوزيع أمرًا مفيدًا</a:t>
            </a:r>
          </a:p>
          <a:p>
            <a:pPr marL="555625" indent="-120650" rtl="1">
              <a:lnSpc>
                <a:spcPct val="100000"/>
              </a:lnSpc>
              <a:spcBef>
                <a:spcPts val="710"/>
              </a:spcBef>
              <a:buClr>
                <a:srgbClr val="3333B2"/>
              </a:buClr>
              <a:buFont typeface="Menlo"/>
              <a:buChar char="•"/>
              <a:tabLst>
                <a:tab pos="556260" algn="l"/>
              </a:tabLst>
            </a:pPr>
            <a:endParaRPr sz="900">
              <a:latin typeface="Arial"/>
              <a:cs typeface="Arial"/>
            </a:endParaRPr>
            <a:r>
              <a:rPr lang="ar-SA" altLang="en-US" sz="900">
                <a:latin typeface="Arial"/>
              </a:rPr>
              <a:t>الاستفادة من الخدمات القائمة على الموقع الجغرافي (كإيجاد الأصدقاء القريبين)</a:t>
            </a:r>
          </a:p>
          <a:p>
            <a:pPr marL="549910" indent="-114935" rtl="1">
              <a:lnSpc>
                <a:spcPct val="100000"/>
              </a:lnSpc>
              <a:spcBef>
                <a:spcPts val="525"/>
              </a:spcBef>
              <a:buClr>
                <a:srgbClr val="3333B2"/>
              </a:buClr>
              <a:buFont typeface="Menlo"/>
              <a:buChar char="•"/>
              <a:tabLst>
                <a:tab pos="550545" algn="l"/>
              </a:tabLst>
            </a:pPr>
            <a:endParaRPr sz="900">
              <a:latin typeface="Arial"/>
              <a:cs typeface="Arial"/>
            </a:endParaRPr>
            <a:r>
              <a:rPr lang="ar-SA" altLang="en-US" sz="900">
                <a:latin typeface="Arial"/>
              </a:rPr>
              <a:t>عند التعامل مع مستخدمين في مناطق زمنية مختلفة</a:t>
            </a:r>
          </a:p>
          <a:p>
            <a:pPr marL="555625" marR="78740" indent="-120650" rtl="1">
              <a:lnSpc>
                <a:spcPct val="111600"/>
              </a:lnSpc>
              <a:spcBef>
                <a:spcPts val="395"/>
              </a:spcBef>
              <a:buClr>
                <a:srgbClr val="3333B2"/>
              </a:buClr>
              <a:buFont typeface="Menlo"/>
              <a:buChar char="•"/>
              <a:tabLst>
                <a:tab pos="550545" algn="l"/>
              </a:tabLst>
            </a:pPr>
            <a:endParaRPr sz="900">
              <a:latin typeface="Arial"/>
              <a:cs typeface="Arial"/>
            </a:endParaRPr>
            <a:r>
              <a:rPr lang="ar-SA" altLang="en-US" sz="900">
                <a:latin typeface="Arial"/>
              </a:rPr>
              <a:t>عندما يُسهم ذلك في مساعدة المستخدم على فهم ما يجري (مثلاً: عندما لا يستجيب خادم لفترة طويلة، يُبلَّغ عنه على أنه معطوب).</a:t>
            </a:r>
          </a:p>
          <a:p>
            <a:pPr>
              <a:lnSpc>
                <a:spcPct val="100000"/>
              </a:lnSpc>
              <a:spcBef>
                <a:spcPts val="30"/>
              </a:spcBef>
            </a:pPr>
            <a:endParaRPr sz="1200">
              <a:latin typeface="Arial"/>
              <a:cs typeface="Arial"/>
            </a:endParaRPr>
          </a:p>
          <a:p>
            <a:pPr marL="302260" rtl="1">
              <a:lnSpc>
                <a:spcPct val="100000"/>
              </a:lnSpc>
              <a:spcBef>
                <a:spcPts val="5"/>
              </a:spcBef>
            </a:pPr>
            <a:endParaRPr sz="1000">
              <a:latin typeface="Arial"/>
              <a:cs typeface="Arial"/>
            </a:endParaRPr>
            <a:r>
              <a:rPr lang="ar-SA" altLang="en-US" sz="1000">
                <a:latin typeface="Arial"/>
              </a:rPr>
              <a:t>خلاصة</a:t>
            </a:r>
          </a:p>
          <a:p>
            <a:pPr marL="302260" marR="17780" rtl="1">
              <a:lnSpc>
                <a:spcPts val="1210"/>
              </a:lnSpc>
              <a:spcBef>
                <a:spcPts val="35"/>
              </a:spcBef>
            </a:pPr>
            <a:endParaRPr sz="900">
              <a:latin typeface="Arial"/>
              <a:cs typeface="Arial"/>
            </a:endParaRPr>
            <a:r>
              <a:rPr lang="ar-SA" altLang="en-US" sz="900">
                <a:latin typeface="Arial"/>
              </a:rPr>
              <a:t>شفافية التوزيع هدف مرغوب، غير أن تحقيقها أمر مختلف تمامًا، وكثيرًا ما لا ينبغي حتى السعي إليها.</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72453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شفافية التوزيع</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انفتاحية الأنظمة الموزعة</a:t>
            </a:r>
          </a:p>
        </p:txBody>
      </p:sp>
      <p:sp>
        <p:nvSpPr>
          <p:cNvPr id="4" name="object 4"/>
          <p:cNvSpPr txBox="1"/>
          <p:nvPr/>
        </p:nvSpPr>
        <p:spPr>
          <a:xfrm>
            <a:off x="328650" y="471706"/>
            <a:ext cx="3944620" cy="1950085"/>
          </a:xfrm>
          <a:prstGeom prst="rect">
            <a:avLst/>
          </a:prstGeom>
        </p:spPr>
        <p:txBody>
          <a:bodyPr vert="horz" wrap="square" lIns="0" tIns="55244" rIns="0" bIns="0" rtlCol="0">
            <a:spAutoFit/>
          </a:bodyPr>
          <a:lstStyle/>
          <a:p>
            <a:pPr marL="31115" rtl="1">
              <a:lnSpc>
                <a:spcPct val="100000"/>
              </a:lnSpc>
              <a:spcBef>
                <a:spcPts val="434"/>
              </a:spcBef>
            </a:pPr>
            <a:endParaRPr sz="1000">
              <a:latin typeface="Arial"/>
              <a:cs typeface="Arial"/>
            </a:endParaRPr>
            <a:r>
              <a:rPr lang="ar-SA" altLang="en-US" sz="1000">
                <a:latin typeface="Arial"/>
              </a:rPr>
              <a:t>النظام الموزع المفتوح</a:t>
            </a:r>
          </a:p>
          <a:p>
            <a:pPr marL="31115" marR="17780" rtl="1">
              <a:lnSpc>
                <a:spcPct val="111600"/>
              </a:lnSpc>
              <a:spcBef>
                <a:spcPts val="175"/>
              </a:spcBef>
            </a:pPr>
            <a:endParaRPr sz="900">
              <a:latin typeface="Arial"/>
              <a:cs typeface="Arial"/>
            </a:endParaRPr>
            <a:r>
              <a:rPr lang="ar-SA" altLang="en-US" sz="900" i="1">
                <a:latin typeface="Arial"/>
              </a:rPr>
              <a:t>نظام يوفر مكونات يمكن استخدامها بسهولة أو دمجها مع أنظمة أخرى. وكثيرًا ما يتكوّن النظام الموزع المفتوح بحد ذاته من مكونات ذات مصادر متنوعة.</a:t>
            </a:r>
          </a:p>
          <a:p>
            <a:pPr marL="25400" rtl="1">
              <a:lnSpc>
                <a:spcPct val="100000"/>
              </a:lnSpc>
              <a:spcBef>
                <a:spcPts val="810"/>
              </a:spcBef>
            </a:pPr>
            <a:endParaRPr sz="1000">
              <a:latin typeface="Arial"/>
              <a:cs typeface="Arial"/>
            </a:endParaRPr>
            <a:r>
              <a:rPr lang="ar-SA" altLang="en-US" sz="1000">
                <a:latin typeface="Arial"/>
              </a:rPr>
              <a:t>عمَّ نتحدث؟</a:t>
            </a:r>
          </a:p>
          <a:p>
            <a:pPr marL="31115" marR="61594" rtl="1">
              <a:lnSpc>
                <a:spcPct val="111600"/>
              </a:lnSpc>
              <a:spcBef>
                <a:spcPts val="185"/>
              </a:spcBef>
            </a:pPr>
            <a:endParaRPr sz="900">
              <a:latin typeface="Arial"/>
              <a:cs typeface="Arial"/>
            </a:endParaRPr>
            <a:r>
              <a:rPr lang="ar-SA" altLang="en-US" sz="900">
                <a:latin typeface="Arial"/>
              </a:rPr>
              <a:t>القدرة على التفاعل مع خدمات أنظمة مفتوحة أخرى، بصرف النظر عن البيئة التحتية:</a:t>
            </a:r>
          </a:p>
          <a:p>
            <a:pPr marL="283845" indent="-120650" rtl="1">
              <a:lnSpc>
                <a:spcPct val="100000"/>
              </a:lnSpc>
              <a:spcBef>
                <a:spcPts val="525"/>
              </a:spcBef>
              <a:buClr>
                <a:srgbClr val="3333B2"/>
              </a:buClr>
              <a:buFont typeface="Menlo"/>
              <a:buChar char="•"/>
              <a:tabLst>
                <a:tab pos="284480" algn="l"/>
              </a:tabLst>
            </a:pPr>
            <a:endParaRPr sz="900">
              <a:latin typeface="Arial"/>
              <a:cs typeface="Arial"/>
            </a:endParaRPr>
            <a:r>
              <a:rPr lang="ar-SA" altLang="en-US" sz="900">
                <a:latin typeface="Arial"/>
              </a:rPr>
              <a:t>يجب أن تلتزم الأنظمة بواجهات محددة تعريفًا جيدًا</a:t>
            </a:r>
          </a:p>
          <a:p>
            <a:pPr marL="283845" indent="-120650" rtl="1">
              <a:lnSpc>
                <a:spcPct val="100000"/>
              </a:lnSpc>
              <a:spcBef>
                <a:spcPts val="125"/>
              </a:spcBef>
              <a:buClr>
                <a:srgbClr val="3333B2"/>
              </a:buClr>
              <a:buFont typeface="Menlo"/>
              <a:buChar char="•"/>
              <a:tabLst>
                <a:tab pos="284480" algn="l"/>
              </a:tabLst>
            </a:pPr>
            <a:endParaRPr sz="900">
              <a:latin typeface="Arial"/>
              <a:cs typeface="Arial"/>
            </a:endParaRPr>
            <a:r>
              <a:rPr lang="ar-SA" altLang="en-US" sz="900">
                <a:latin typeface="Arial"/>
              </a:rPr>
              <a:t>يجب أن تتفاعل الأنظمة وتتشغّل بسهولة فيما بينها</a:t>
            </a:r>
          </a:p>
          <a:p>
            <a:pPr marL="283845" indent="-120650" rtl="1">
              <a:lnSpc>
                <a:spcPct val="100000"/>
              </a:lnSpc>
              <a:spcBef>
                <a:spcPts val="125"/>
              </a:spcBef>
              <a:buClr>
                <a:srgbClr val="3333B2"/>
              </a:buClr>
              <a:buFont typeface="Menlo"/>
              <a:buChar char="•"/>
              <a:tabLst>
                <a:tab pos="284480" algn="l"/>
              </a:tabLst>
            </a:pPr>
            <a:endParaRPr sz="900">
              <a:latin typeface="Arial"/>
              <a:cs typeface="Arial"/>
            </a:endParaRPr>
            <a:r>
              <a:rPr lang="ar-SA" altLang="en-US" sz="900">
                <a:latin typeface="Arial"/>
              </a:rPr>
              <a:t>يجب أن تدعم الأنظمة قابلية نقل التطبيقات</a:t>
            </a:r>
          </a:p>
          <a:p>
            <a:pPr marL="283845" indent="-120650" rtl="1">
              <a:lnSpc>
                <a:spcPct val="100000"/>
              </a:lnSpc>
              <a:spcBef>
                <a:spcPts val="125"/>
              </a:spcBef>
              <a:buClr>
                <a:srgbClr val="3333B2"/>
              </a:buClr>
              <a:buFont typeface="Menlo"/>
              <a:buChar char="•"/>
              <a:tabLst>
                <a:tab pos="284480" algn="l"/>
              </a:tabLst>
            </a:pPr>
            <a:endParaRPr sz="900">
              <a:latin typeface="Arial"/>
              <a:cs typeface="Arial"/>
            </a:endParaRPr>
            <a:r>
              <a:rPr lang="ar-SA" altLang="en-US" sz="900">
                <a:latin typeface="Arial"/>
              </a:rPr>
              <a:t>يجب أن تكون الأنظمة قابلة للتوسع بسهولة</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1432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الانفتاحية</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السياسات مقابل الآليات</a:t>
            </a:r>
          </a:p>
        </p:txBody>
      </p:sp>
      <p:sp>
        <p:nvSpPr>
          <p:cNvPr id="4" name="object 4"/>
          <p:cNvSpPr txBox="1"/>
          <p:nvPr/>
        </p:nvSpPr>
        <p:spPr>
          <a:xfrm>
            <a:off x="309194" y="514774"/>
            <a:ext cx="3971925" cy="2108835"/>
          </a:xfrm>
          <a:prstGeom prst="rect">
            <a:avLst/>
          </a:prstGeom>
        </p:spPr>
        <p:txBody>
          <a:bodyPr vert="horz" wrap="square" lIns="0" tIns="12065" rIns="0" bIns="0" rtlCol="0">
            <a:spAutoFit/>
          </a:bodyPr>
          <a:lstStyle/>
          <a:p>
            <a:pPr marL="50800" rtl="1">
              <a:lnSpc>
                <a:spcPct val="100000"/>
              </a:lnSpc>
              <a:spcBef>
                <a:spcPts val="95"/>
              </a:spcBef>
            </a:pPr>
            <a:endParaRPr sz="1000">
              <a:latin typeface="Arial"/>
              <a:cs typeface="Arial"/>
            </a:endParaRPr>
            <a:r>
              <a:rPr lang="ar-SA" altLang="en-US" sz="1000">
                <a:latin typeface="Arial"/>
              </a:rPr>
              <a:t>تطبيق الانفتاحية: السياسات</a:t>
            </a:r>
          </a:p>
          <a:p>
            <a:pPr marL="298450" indent="-115570" rtl="1">
              <a:lnSpc>
                <a:spcPct val="100000"/>
              </a:lnSpc>
              <a:spcBef>
                <a:spcPts val="710"/>
              </a:spcBef>
              <a:buClr>
                <a:srgbClr val="3333B2"/>
              </a:buClr>
              <a:buFont typeface="Menlo"/>
              <a:buChar char="•"/>
              <a:tabLst>
                <a:tab pos="299085" algn="l"/>
              </a:tabLst>
            </a:pPr>
            <a:endParaRPr sz="900">
              <a:latin typeface="Arial"/>
              <a:cs typeface="Arial"/>
            </a:endParaRPr>
            <a:r>
              <a:rPr lang="ar-SA" altLang="en-US" sz="900">
                <a:latin typeface="Arial"/>
              </a:rPr>
              <a:t>ما مستوى الاتساق المطلوب للبيانات المخزنة مؤقتًا لدى العميل؟</a:t>
            </a:r>
          </a:p>
          <a:p>
            <a:pPr marL="298450" indent="-115570" rtl="1">
              <a:lnSpc>
                <a:spcPct val="100000"/>
              </a:lnSpc>
              <a:spcBef>
                <a:spcPts val="420"/>
              </a:spcBef>
              <a:buClr>
                <a:srgbClr val="3333B2"/>
              </a:buClr>
              <a:buFont typeface="Menlo"/>
              <a:buChar char="•"/>
              <a:tabLst>
                <a:tab pos="299085" algn="l"/>
              </a:tabLst>
            </a:pPr>
            <a:endParaRPr sz="900">
              <a:latin typeface="Arial"/>
              <a:cs typeface="Arial"/>
            </a:endParaRPr>
            <a:r>
              <a:rPr lang="ar-SA" altLang="en-US" sz="900">
                <a:latin typeface="Arial"/>
              </a:rPr>
              <a:t>ما العمليات التي يُسمح للكود المحمَّل بتنفيذها؟</a:t>
            </a:r>
          </a:p>
          <a:p>
            <a:pPr marL="298450" indent="-115570" rtl="1">
              <a:lnSpc>
                <a:spcPct val="100000"/>
              </a:lnSpc>
              <a:spcBef>
                <a:spcPts val="425"/>
              </a:spcBef>
              <a:buClr>
                <a:srgbClr val="3333B2"/>
              </a:buClr>
              <a:buFont typeface="Menlo"/>
              <a:buChar char="•"/>
              <a:tabLst>
                <a:tab pos="299085" algn="l"/>
              </a:tabLst>
            </a:pPr>
            <a:endParaRPr sz="900">
              <a:latin typeface="Arial"/>
              <a:cs typeface="Arial"/>
            </a:endParaRPr>
            <a:r>
              <a:rPr lang="ar-SA" altLang="en-US" sz="900">
                <a:latin typeface="Arial"/>
              </a:rPr>
              <a:t>ما متطلبات جودة الخدمة (QoS) التي نضبطها في مواجهة تذبذب عرض الحزمة؟</a:t>
            </a:r>
          </a:p>
          <a:p>
            <a:pPr marL="298450" indent="-115570" rtl="1">
              <a:lnSpc>
                <a:spcPct val="100000"/>
              </a:lnSpc>
              <a:spcBef>
                <a:spcPts val="425"/>
              </a:spcBef>
              <a:buClr>
                <a:srgbClr val="3333B2"/>
              </a:buClr>
              <a:buFont typeface="Menlo"/>
              <a:buChar char="•"/>
              <a:tabLst>
                <a:tab pos="299085" algn="l"/>
              </a:tabLst>
            </a:pPr>
            <a:endParaRPr sz="900">
              <a:latin typeface="Arial"/>
              <a:cs typeface="Arial"/>
            </a:endParaRPr>
            <a:r>
              <a:rPr lang="ar-SA" altLang="en-US" sz="900">
                <a:latin typeface="Arial"/>
              </a:rPr>
              <a:t>ما مستوى السرية المطلوب للاتصالات؟</a:t>
            </a:r>
          </a:p>
          <a:p>
            <a:pPr>
              <a:lnSpc>
                <a:spcPct val="100000"/>
              </a:lnSpc>
              <a:spcBef>
                <a:spcPts val="25"/>
              </a:spcBef>
              <a:buClr>
                <a:srgbClr val="3333B2"/>
              </a:buClr>
              <a:buFont typeface="Menlo"/>
              <a:buChar char="•"/>
            </a:pPr>
            <a:endParaRPr sz="1200">
              <a:latin typeface="Arial"/>
              <a:cs typeface="Arial"/>
            </a:endParaRPr>
          </a:p>
          <a:p>
            <a:pPr marL="50800" rtl="1">
              <a:lnSpc>
                <a:spcPct val="100000"/>
              </a:lnSpc>
            </a:pPr>
            <a:endParaRPr sz="1000">
              <a:latin typeface="Arial"/>
              <a:cs typeface="Arial"/>
            </a:endParaRPr>
            <a:r>
              <a:rPr lang="ar-SA" altLang="en-US" sz="1000">
                <a:latin typeface="Arial"/>
              </a:rPr>
              <a:t>تطبيق الانفتاحية: الآليات</a:t>
            </a:r>
          </a:p>
          <a:p>
            <a:pPr marL="299720" indent="-116839" rtl="1">
              <a:lnSpc>
                <a:spcPct val="100000"/>
              </a:lnSpc>
              <a:spcBef>
                <a:spcPts val="705"/>
              </a:spcBef>
              <a:buClr>
                <a:srgbClr val="3333B2"/>
              </a:buClr>
              <a:buFont typeface="Menlo"/>
              <a:buChar char="•"/>
              <a:tabLst>
                <a:tab pos="300355" algn="l"/>
              </a:tabLst>
            </a:pPr>
            <a:endParaRPr sz="900">
              <a:latin typeface="Arial"/>
              <a:cs typeface="Arial"/>
            </a:endParaRPr>
            <a:r>
              <a:rPr lang="ar-SA" altLang="en-US" sz="900">
                <a:latin typeface="Arial"/>
              </a:rPr>
              <a:t>السماح بضبط سياسات التخزين المؤقت (ديناميكيًا)</a:t>
            </a:r>
          </a:p>
          <a:p>
            <a:pPr marL="303530" indent="-120650" rtl="1">
              <a:lnSpc>
                <a:spcPct val="100000"/>
              </a:lnSpc>
              <a:spcBef>
                <a:spcPts val="425"/>
              </a:spcBef>
              <a:buClr>
                <a:srgbClr val="3333B2"/>
              </a:buClr>
              <a:buFont typeface="Menlo"/>
              <a:buChar char="•"/>
              <a:tabLst>
                <a:tab pos="304165" algn="l"/>
              </a:tabLst>
            </a:pPr>
            <a:endParaRPr sz="900">
              <a:latin typeface="Arial"/>
              <a:cs typeface="Arial"/>
            </a:endParaRPr>
            <a:r>
              <a:rPr lang="ar-SA" altLang="en-US" sz="900">
                <a:latin typeface="Arial"/>
              </a:rPr>
              <a:t>دعم مستويات ثقة مختلفة للكود المتنقل</a:t>
            </a:r>
          </a:p>
          <a:p>
            <a:pPr marL="303530" indent="-120650" rtl="1">
              <a:lnSpc>
                <a:spcPct val="100000"/>
              </a:lnSpc>
              <a:spcBef>
                <a:spcPts val="425"/>
              </a:spcBef>
              <a:buClr>
                <a:srgbClr val="3333B2"/>
              </a:buClr>
              <a:buFont typeface="Menlo"/>
              <a:buChar char="•"/>
              <a:tabLst>
                <a:tab pos="304165" algn="l"/>
              </a:tabLst>
            </a:pPr>
            <a:endParaRPr sz="900">
              <a:latin typeface="Arial"/>
              <a:cs typeface="Arial"/>
            </a:endParaRPr>
            <a:r>
              <a:rPr lang="ar-SA" altLang="en-US" sz="900">
                <a:latin typeface="Arial"/>
              </a:rPr>
              <a:t>توفير معاملات جودة الخدمة (QoS) قابلة للتعديل لكل تدفق بيانات</a:t>
            </a:r>
          </a:p>
          <a:p>
            <a:pPr marL="303530" indent="-120650" rtl="1">
              <a:lnSpc>
                <a:spcPct val="100000"/>
              </a:lnSpc>
              <a:spcBef>
                <a:spcPts val="425"/>
              </a:spcBef>
              <a:buClr>
                <a:srgbClr val="3333B2"/>
              </a:buClr>
              <a:buFont typeface="Menlo"/>
              <a:buChar char="•"/>
              <a:tabLst>
                <a:tab pos="304165" algn="l"/>
              </a:tabLst>
            </a:pPr>
            <a:endParaRPr sz="900">
              <a:latin typeface="Arial"/>
              <a:cs typeface="Arial"/>
            </a:endParaRPr>
            <a:r>
              <a:rPr lang="ar-SA" altLang="en-US" sz="900">
                <a:latin typeface="Arial"/>
              </a:rPr>
              <a:t>تقديم خوارزميات تشفير متعددة</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1432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الانفتاحية</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حول الفصل الصارم</a:t>
            </a:r>
          </a:p>
        </p:txBody>
      </p:sp>
      <p:sp>
        <p:nvSpPr>
          <p:cNvPr id="4" name="object 4"/>
          <p:cNvSpPr txBox="1"/>
          <p:nvPr/>
        </p:nvSpPr>
        <p:spPr>
          <a:xfrm>
            <a:off x="343763" y="499476"/>
            <a:ext cx="3916679" cy="1234440"/>
          </a:xfrm>
          <a:prstGeom prst="rect">
            <a:avLst/>
          </a:prstGeom>
        </p:spPr>
        <p:txBody>
          <a:bodyPr vert="horz" wrap="square" lIns="0" tIns="27305" rIns="0" bIns="0" rtlCol="0">
            <a:spAutoFit/>
          </a:bodyPr>
          <a:lstStyle/>
          <a:p>
            <a:pPr marL="15875" rtl="1">
              <a:lnSpc>
                <a:spcPct val="100000"/>
              </a:lnSpc>
              <a:spcBef>
                <a:spcPts val="215"/>
              </a:spcBef>
            </a:pPr>
            <a:endParaRPr sz="1000">
              <a:latin typeface="Arial"/>
              <a:cs typeface="Arial"/>
            </a:endParaRPr>
            <a:r>
              <a:rPr lang="ar-SA" altLang="en-US" sz="1000">
                <a:latin typeface="Arial"/>
              </a:rPr>
              <a:t>ملاحظة</a:t>
            </a:r>
          </a:p>
          <a:p>
            <a:pPr marL="15875" marR="5080" indent="-3810" rtl="1">
              <a:lnSpc>
                <a:spcPts val="1210"/>
              </a:lnSpc>
              <a:spcBef>
                <a:spcPts val="35"/>
              </a:spcBef>
            </a:pPr>
            <a:endParaRPr sz="900">
              <a:latin typeface="Arial"/>
              <a:cs typeface="Arial"/>
            </a:endParaRPr>
            <a:r>
              <a:rPr lang="ar-SA" altLang="en-US" sz="900">
                <a:latin typeface="Arial"/>
              </a:rPr>
              <a:t>كلما كان الفصل بين السياسة والآلية أكثر صرامة، زادت الحاجة إلى ضمان آليات ملائمة، مما قد يؤدي إلى معاملات إعداد كثيرة وإدارة معقدة.</a:t>
            </a:r>
          </a:p>
          <a:p>
            <a:pPr marL="15875" rtl="1">
              <a:lnSpc>
                <a:spcPct val="100000"/>
              </a:lnSpc>
              <a:spcBef>
                <a:spcPts val="745"/>
              </a:spcBef>
            </a:pPr>
            <a:endParaRPr sz="1000">
              <a:latin typeface="Arial"/>
              <a:cs typeface="Arial"/>
            </a:endParaRPr>
            <a:r>
              <a:rPr lang="ar-SA" altLang="en-US" sz="1000">
                <a:latin typeface="Arial"/>
              </a:rPr>
              <a:t>إيجاد التوازن</a:t>
            </a:r>
          </a:p>
          <a:p>
            <a:pPr marL="15875" marR="5080" rtl="1">
              <a:lnSpc>
                <a:spcPct val="111600"/>
              </a:lnSpc>
              <a:spcBef>
                <a:spcPts val="180"/>
              </a:spcBef>
            </a:pPr>
            <a:endParaRPr sz="900">
              <a:latin typeface="Arial"/>
              <a:cs typeface="Arial"/>
            </a:endParaRPr>
            <a:r>
              <a:rPr lang="ar-SA" altLang="en-US" sz="900">
                <a:latin typeface="Arial"/>
              </a:rPr>
              <a:t>تضمين السياسات بشكل ثابت في الكود يُبسّط الإدارة ويقلل التعقيد على حساب المرونة. ولا توجد حلول واضحة في هذا الشأن.</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1432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الانفتاحية</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الموثوقية</a:t>
            </a:r>
          </a:p>
        </p:txBody>
      </p:sp>
      <p:sp>
        <p:nvSpPr>
          <p:cNvPr id="4" name="object 4"/>
          <p:cNvSpPr txBox="1"/>
          <p:nvPr/>
        </p:nvSpPr>
        <p:spPr>
          <a:xfrm>
            <a:off x="330847" y="499476"/>
            <a:ext cx="3942715" cy="1233805"/>
          </a:xfrm>
          <a:prstGeom prst="rect">
            <a:avLst/>
          </a:prstGeom>
        </p:spPr>
        <p:txBody>
          <a:bodyPr vert="horz" wrap="square" lIns="0" tIns="27305" rIns="0" bIns="0" rtlCol="0">
            <a:spAutoFit/>
          </a:bodyPr>
          <a:lstStyle/>
          <a:p>
            <a:pPr marL="28575" rtl="1">
              <a:lnSpc>
                <a:spcPct val="100000"/>
              </a:lnSpc>
              <a:spcBef>
                <a:spcPts val="215"/>
              </a:spcBef>
            </a:pPr>
            <a:endParaRPr sz="1000">
              <a:latin typeface="Arial"/>
              <a:cs typeface="Arial"/>
            </a:endParaRPr>
            <a:r>
              <a:rPr lang="ar-SA" altLang="en-US" sz="1000">
                <a:latin typeface="Arial"/>
              </a:rPr>
              <a:t>الأساسيات</a:t>
            </a:r>
          </a:p>
          <a:p>
            <a:pPr marL="28575" marR="17780" indent="-3810" algn="just" rtl="1">
              <a:lnSpc>
                <a:spcPts val="1210"/>
              </a:lnSpc>
              <a:spcBef>
                <a:spcPts val="35"/>
              </a:spcBef>
            </a:pPr>
            <a:endParaRPr sz="900">
              <a:latin typeface="Arial"/>
              <a:cs typeface="Arial"/>
            </a:endParaRPr>
            <a:r>
              <a:rPr lang="ar-SA" altLang="en-US" sz="900">
                <a:latin typeface="Arial"/>
              </a:rPr>
              <a:t>يُقدّم المكوّن خدمات للعملاء. وللقيام بذلك، قد يحتاج المكوّن إلى خدمات مكوّنات أخرى ⇒ قد يعتمد مكوّن ما على مكوّن آخر.</a:t>
            </a:r>
          </a:p>
          <a:p>
            <a:pPr marL="28575" rtl="1">
              <a:lnSpc>
                <a:spcPct val="100000"/>
              </a:lnSpc>
              <a:spcBef>
                <a:spcPts val="745"/>
              </a:spcBef>
            </a:pPr>
            <a:endParaRPr sz="1000">
              <a:latin typeface="Arial"/>
              <a:cs typeface="Arial"/>
            </a:endParaRPr>
            <a:r>
              <a:rPr lang="ar-SA" altLang="en-US" sz="1000">
                <a:latin typeface="Arial"/>
              </a:rPr>
              <a:t>بشكل محدد</a:t>
            </a:r>
          </a:p>
          <a:p>
            <a:pPr marL="28575" marR="17780" indent="-3810" rtl="1">
              <a:lnSpc>
                <a:spcPct val="111600"/>
              </a:lnSpc>
              <a:spcBef>
                <a:spcPts val="175"/>
              </a:spcBef>
            </a:pPr>
            <a:endParaRPr sz="900">
              <a:latin typeface="Arial"/>
              <a:cs typeface="Arial"/>
            </a:endParaRPr>
            <a:r>
              <a:rPr lang="ar-SA" altLang="en-US">
                <a:latin typeface="Arial"/>
              </a:rPr>
              <a:t>يعتمد المكوّن C على المكوّن C∗ إذا كانت صحة سلوك C تعتمد على صحة سلوك C∗. (المكوّنات هي عمليات أو قنوات).</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089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الموثوقية</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2408555" cy="49466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الموثوقية</a:t>
            </a:r>
          </a:p>
          <a:p>
            <a:pPr marL="264160" rtl="1">
              <a:lnSpc>
                <a:spcPct val="100000"/>
              </a:lnSpc>
              <a:spcBef>
                <a:spcPts val="1055"/>
              </a:spcBef>
            </a:pPr>
            <a:endParaRPr sz="1000">
              <a:latin typeface="Arial"/>
              <a:cs typeface="Arial"/>
            </a:endParaRPr>
            <a:r>
              <a:rPr lang="ar-SA" altLang="en-US" sz="1000">
                <a:latin typeface="Arial"/>
              </a:rPr>
              <a:t>المتطلبات المتعلقة بالموثوقية</a:t>
            </a:r>
          </a:p>
        </p:txBody>
      </p:sp>
      <p:graphicFrame>
        <p:nvGraphicFramePr>
          <p:cNvPr id="6" name="object 6"/>
          <p:cNvGraphicFramePr>
            <a:graphicFrameLocks noGrp="1"/>
          </p:cNvGraphicFramePr>
          <p:nvPr/>
        </p:nvGraphicFramePr>
        <p:xfrm>
          <a:off x="729551" y="792708"/>
          <a:ext cx="3143885" cy="956945"/>
        </p:xfrm>
        <a:graphic>
          <a:graphicData uri="http://schemas.openxmlformats.org/drawingml/2006/table">
            <a:tbl>
              <a:tblPr firstRow="1" bandRow="1">
                <a:tableStyleId>{2D5ABB26-0587-4C30-8999-92F81FD0307C}</a:tableStyleId>
              </a:tblPr>
              <a:tblGrid>
                <a:gridCol w="878205">
                  <a:extLst>
                    <a:ext uri="{9D8B030D-6E8A-4147-A177-3AD203B41FA5}">
                      <a16:colId xmlns:a16="http://schemas.microsoft.com/office/drawing/2014/main" val="20000"/>
                    </a:ext>
                  </a:extLst>
                </a:gridCol>
                <a:gridCol w="2265680">
                  <a:extLst>
                    <a:ext uri="{9D8B030D-6E8A-4147-A177-3AD203B41FA5}">
                      <a16:colId xmlns:a16="http://schemas.microsoft.com/office/drawing/2014/main" val="20001"/>
                    </a:ext>
                  </a:extLst>
                </a:gridCol>
              </a:tblGrid>
              <a:tr h="195580">
                <a:tc>
                  <a:txBody>
                    <a:bodyPr/>
                    <a:lstStyle/>
                    <a:p>
                      <a:pPr marL="78105">
                        <a:lnSpc>
                          <a:spcPct val="100000"/>
                        </a:lnSpc>
                        <a:spcBef>
                          <a:spcPts val="130"/>
                        </a:spcBef>
                      </a:pPr>
                      <a:r>
                        <a:rPr sz="900" b="1" spc="-10" dirty="0">
                          <a:latin typeface="Arial"/>
                          <a:cs typeface="Arial"/>
                        </a:rPr>
                        <a:t>Requirement</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5580">
                <a:tc>
                  <a:txBody>
                    <a:bodyPr/>
                    <a:lstStyle/>
                    <a:p>
                      <a:pPr marL="78105">
                        <a:lnSpc>
                          <a:spcPct val="100000"/>
                        </a:lnSpc>
                        <a:spcBef>
                          <a:spcPts val="185"/>
                        </a:spcBef>
                      </a:pPr>
                      <a:r>
                        <a:rPr sz="900" spc="-10" dirty="0">
                          <a:solidFill>
                            <a:srgbClr val="C80000"/>
                          </a:solidFill>
                          <a:latin typeface="Arial"/>
                          <a:cs typeface="Arial"/>
                        </a:rPr>
                        <a:t>Availability</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Readiness</a:t>
                      </a:r>
                      <a:r>
                        <a:rPr sz="900" spc="-50" dirty="0">
                          <a:latin typeface="Arial"/>
                          <a:cs typeface="Arial"/>
                        </a:rPr>
                        <a:t> </a:t>
                      </a:r>
                      <a:r>
                        <a:rPr sz="900" dirty="0">
                          <a:latin typeface="Arial"/>
                          <a:cs typeface="Arial"/>
                        </a:rPr>
                        <a:t>for</a:t>
                      </a:r>
                      <a:r>
                        <a:rPr sz="900" spc="-45" dirty="0">
                          <a:latin typeface="Arial"/>
                          <a:cs typeface="Arial"/>
                        </a:rPr>
                        <a:t> </a:t>
                      </a:r>
                      <a:r>
                        <a:rPr sz="900" spc="-10" dirty="0">
                          <a:latin typeface="Arial"/>
                          <a:cs typeface="Arial"/>
                        </a:rPr>
                        <a:t>usage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88595">
                <a:tc>
                  <a:txBody>
                    <a:bodyPr/>
                    <a:lstStyle/>
                    <a:p>
                      <a:pPr marL="78105">
                        <a:lnSpc>
                          <a:spcPct val="100000"/>
                        </a:lnSpc>
                        <a:spcBef>
                          <a:spcPts val="130"/>
                        </a:spcBef>
                      </a:pPr>
                      <a:r>
                        <a:rPr sz="900" spc="-10" dirty="0">
                          <a:solidFill>
                            <a:srgbClr val="C80000"/>
                          </a:solidFill>
                          <a:latin typeface="Arial"/>
                          <a:cs typeface="Arial"/>
                        </a:rPr>
                        <a:t>Reliability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Continuity</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service</a:t>
                      </a:r>
                      <a:r>
                        <a:rPr sz="900" spc="-25" dirty="0">
                          <a:latin typeface="Arial"/>
                          <a:cs typeface="Arial"/>
                        </a:rPr>
                        <a:t> </a:t>
                      </a:r>
                      <a:r>
                        <a:rPr sz="900" spc="-10" dirty="0">
                          <a:latin typeface="Arial"/>
                          <a:cs typeface="Arial"/>
                        </a:rPr>
                        <a:t>delivery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8595">
                <a:tc>
                  <a:txBody>
                    <a:bodyPr/>
                    <a:lstStyle/>
                    <a:p>
                      <a:pPr marL="78105">
                        <a:lnSpc>
                          <a:spcPct val="100000"/>
                        </a:lnSpc>
                        <a:spcBef>
                          <a:spcPts val="130"/>
                        </a:spcBef>
                      </a:pPr>
                      <a:r>
                        <a:rPr sz="900" spc="-10" dirty="0">
                          <a:solidFill>
                            <a:srgbClr val="C80000"/>
                          </a:solidFill>
                          <a:latin typeface="Arial"/>
                          <a:cs typeface="Arial"/>
                        </a:rPr>
                        <a:t>Safety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Very</a:t>
                      </a:r>
                      <a:r>
                        <a:rPr sz="900" spc="-35" dirty="0">
                          <a:latin typeface="Arial"/>
                          <a:cs typeface="Arial"/>
                        </a:rPr>
                        <a:t> </a:t>
                      </a:r>
                      <a:r>
                        <a:rPr sz="900" dirty="0">
                          <a:latin typeface="Arial"/>
                          <a:cs typeface="Arial"/>
                        </a:rPr>
                        <a:t>low</a:t>
                      </a:r>
                      <a:r>
                        <a:rPr sz="900" spc="-30" dirty="0">
                          <a:latin typeface="Arial"/>
                          <a:cs typeface="Arial"/>
                        </a:rPr>
                        <a:t> </a:t>
                      </a:r>
                      <a:r>
                        <a:rPr sz="900" dirty="0">
                          <a:latin typeface="Arial"/>
                          <a:cs typeface="Arial"/>
                        </a:rPr>
                        <a:t>probability</a:t>
                      </a:r>
                      <a:r>
                        <a:rPr sz="900" spc="-30"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catastrophes</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88595">
                <a:tc>
                  <a:txBody>
                    <a:bodyPr/>
                    <a:lstStyle/>
                    <a:p>
                      <a:pPr marL="78105">
                        <a:lnSpc>
                          <a:spcPct val="100000"/>
                        </a:lnSpc>
                        <a:spcBef>
                          <a:spcPts val="130"/>
                        </a:spcBef>
                      </a:pPr>
                      <a:r>
                        <a:rPr sz="900" spc="-10" dirty="0">
                          <a:solidFill>
                            <a:srgbClr val="C80000"/>
                          </a:solidFill>
                          <a:latin typeface="Arial"/>
                          <a:cs typeface="Arial"/>
                        </a:rPr>
                        <a:t>Maintainability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How</a:t>
                      </a:r>
                      <a:r>
                        <a:rPr sz="900" spc="-30" dirty="0">
                          <a:latin typeface="Arial"/>
                          <a:cs typeface="Arial"/>
                        </a:rPr>
                        <a:t> </a:t>
                      </a:r>
                      <a:r>
                        <a:rPr sz="900" dirty="0">
                          <a:latin typeface="Arial"/>
                          <a:cs typeface="Arial"/>
                        </a:rPr>
                        <a:t>easy</a:t>
                      </a:r>
                      <a:r>
                        <a:rPr sz="900" spc="-3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failed</a:t>
                      </a:r>
                      <a:r>
                        <a:rPr sz="900" spc="-30"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repaired</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089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الموثوقية</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الموثوقية مقابل التوافر</a:t>
            </a:r>
          </a:p>
        </p:txBody>
      </p:sp>
      <p:sp>
        <p:nvSpPr>
          <p:cNvPr id="4" name="object 4"/>
          <p:cNvSpPr txBox="1"/>
          <p:nvPr/>
        </p:nvSpPr>
        <p:spPr>
          <a:xfrm>
            <a:off x="330682" y="466654"/>
            <a:ext cx="3955415" cy="1550670"/>
          </a:xfrm>
          <a:prstGeom prst="rect">
            <a:avLst/>
          </a:prstGeom>
        </p:spPr>
        <p:txBody>
          <a:bodyPr vert="horz" wrap="square" lIns="0" tIns="60325" rIns="0" bIns="0" rtlCol="0">
            <a:spAutoFit/>
          </a:bodyPr>
          <a:lstStyle/>
          <a:p>
            <a:pPr marL="29209" rtl="1">
              <a:lnSpc>
                <a:spcPct val="100000"/>
              </a:lnSpc>
              <a:spcBef>
                <a:spcPts val="475"/>
              </a:spcBef>
            </a:pPr>
            <a:endParaRPr sz="1000">
              <a:latin typeface="Arial"/>
              <a:cs typeface="Arial"/>
            </a:endParaRPr>
            <a:r>
              <a:rPr lang="ar-SA" altLang="en-US" sz="1000">
                <a:latin typeface="Arial"/>
              </a:rPr>
              <a:t>موثوقية R(t) للمكوّن C</a:t>
            </a:r>
          </a:p>
          <a:p>
            <a:pPr marL="29209" rtl="1">
              <a:lnSpc>
                <a:spcPct val="100000"/>
              </a:lnSpc>
              <a:spcBef>
                <a:spcPts val="335"/>
              </a:spcBef>
            </a:pPr>
            <a:endParaRPr sz="900">
              <a:latin typeface="Arial"/>
              <a:cs typeface="Arial"/>
            </a:endParaRPr>
            <a:r>
              <a:rPr lang="ar-SA" altLang="en-US" sz="900">
                <a:latin typeface="Arial"/>
              </a:rPr>
              <a:t>الاحتمال الشرطي لعمل C بشكل صحيح خلال الفترة [0, t) مع العلم بأن</a:t>
            </a:r>
          </a:p>
          <a:p>
            <a:pPr marL="29209" rtl="1">
              <a:lnSpc>
                <a:spcPct val="100000"/>
              </a:lnSpc>
              <a:spcBef>
                <a:spcPts val="125"/>
              </a:spcBef>
            </a:pPr>
            <a:endParaRPr sz="900">
              <a:latin typeface="Arial"/>
              <a:cs typeface="Arial"/>
            </a:endParaRPr>
            <a:r>
              <a:rPr lang="ar-SA" altLang="en-US" sz="900" i="1">
                <a:latin typeface="Arial"/>
              </a:rPr>
              <a:t>C كان يعمل بشكل صحيح عند اللحظة T = 0.</a:t>
            </a:r>
          </a:p>
          <a:p>
            <a:pPr marL="25400" rtl="1">
              <a:lnSpc>
                <a:spcPct val="100000"/>
              </a:lnSpc>
              <a:spcBef>
                <a:spcPts val="815"/>
              </a:spcBef>
            </a:pPr>
            <a:endParaRPr sz="1000">
              <a:latin typeface="Arial"/>
              <a:cs typeface="Arial"/>
            </a:endParaRPr>
            <a:r>
              <a:rPr lang="ar-SA" altLang="en-US" sz="1000">
                <a:latin typeface="Arial"/>
              </a:rPr>
              <a:t>المقاييس التقليدية</a:t>
            </a:r>
          </a:p>
          <a:p>
            <a:pPr marL="281940" indent="-120650" rtl="1">
              <a:lnSpc>
                <a:spcPct val="100000"/>
              </a:lnSpc>
              <a:spcBef>
                <a:spcPts val="500"/>
              </a:spcBef>
              <a:buClr>
                <a:srgbClr val="3333B2"/>
              </a:buClr>
              <a:buFont typeface="Menlo"/>
              <a:buChar char="•"/>
              <a:tabLst>
                <a:tab pos="282575" algn="l"/>
              </a:tabLst>
            </a:pPr>
            <a:endParaRPr sz="900">
              <a:latin typeface="Arial"/>
              <a:cs typeface="Arial"/>
            </a:endParaRPr>
            <a:r>
              <a:rPr lang="ar-SA" altLang="en-US" sz="900">
                <a:latin typeface="Arial"/>
              </a:rPr>
              <a:t>متوسط الوقت حتى العطل (MTTF): متوسط الوقت حتى يتعطل المكوّن.</a:t>
            </a:r>
          </a:p>
          <a:p>
            <a:pPr marL="281940" marR="247015" indent="-120650" rtl="1">
              <a:lnSpc>
                <a:spcPct val="111600"/>
              </a:lnSpc>
              <a:spcBef>
                <a:spcPts val="300"/>
              </a:spcBef>
              <a:buClr>
                <a:srgbClr val="3333B2"/>
              </a:buClr>
              <a:buFont typeface="Menlo"/>
              <a:buChar char="•"/>
              <a:tabLst>
                <a:tab pos="282575" algn="l"/>
              </a:tabLst>
            </a:pPr>
            <a:endParaRPr sz="900">
              <a:latin typeface="Arial"/>
              <a:cs typeface="Arial"/>
            </a:endParaRPr>
            <a:r>
              <a:rPr lang="ar-SA" altLang="en-US" sz="900">
                <a:latin typeface="Arial"/>
              </a:rPr>
              <a:t>متوسط وقت الإصلاح (MTTR): متوسط الوقت اللازم لإصلاح مكوّن.</a:t>
            </a:r>
          </a:p>
          <a:p>
            <a:pPr marL="281940" indent="-120650" rtl="1">
              <a:lnSpc>
                <a:spcPct val="100000"/>
              </a:lnSpc>
              <a:spcBef>
                <a:spcPts val="425"/>
              </a:spcBef>
              <a:buClr>
                <a:srgbClr val="3333B2"/>
              </a:buClr>
              <a:buFont typeface="Menlo"/>
              <a:buChar char="•"/>
              <a:tabLst>
                <a:tab pos="282575" algn="l"/>
              </a:tabLst>
            </a:pPr>
            <a:endParaRPr sz="900">
              <a:latin typeface="Arial"/>
              <a:cs typeface="Arial"/>
            </a:endParaRPr>
            <a:r>
              <a:rPr lang="ar-SA" altLang="en-US" sz="900">
                <a:latin typeface="Arial"/>
              </a:rPr>
              <a:t>متوسط الوقت بين العطلَين (MTBF): ببساطة MTTF + MTTR.</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089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الموثوقية</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1292860" cy="49466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المصطلحات</a:t>
            </a:r>
          </a:p>
          <a:p>
            <a:pPr marL="264160" rtl="1">
              <a:lnSpc>
                <a:spcPct val="100000"/>
              </a:lnSpc>
              <a:spcBef>
                <a:spcPts val="1055"/>
              </a:spcBef>
            </a:pPr>
            <a:endParaRPr sz="1000">
              <a:latin typeface="Arial"/>
              <a:cs typeface="Arial"/>
            </a:endParaRPr>
            <a:r>
              <a:rPr lang="ar-SA" altLang="en-US" sz="1000">
                <a:latin typeface="Arial"/>
              </a:rPr>
              <a:t>العطل، الخطأ، الثغرة</a:t>
            </a:r>
          </a:p>
        </p:txBody>
      </p:sp>
      <p:graphicFrame>
        <p:nvGraphicFramePr>
          <p:cNvPr id="6" name="object 6"/>
          <p:cNvGraphicFramePr>
            <a:graphicFrameLocks noGrp="1"/>
          </p:cNvGraphicFramePr>
          <p:nvPr/>
        </p:nvGraphicFramePr>
        <p:xfrm>
          <a:off x="534187" y="784237"/>
          <a:ext cx="3534408" cy="1074420"/>
        </p:xfrm>
        <a:graphic>
          <a:graphicData uri="http://schemas.openxmlformats.org/drawingml/2006/table">
            <a:tbl>
              <a:tblPr firstRow="1" bandRow="1">
                <a:tableStyleId>{2D5ABB26-0587-4C30-8999-92F81FD0307C}</a:tableStyleId>
              </a:tblPr>
              <a:tblGrid>
                <a:gridCol w="499109">
                  <a:extLst>
                    <a:ext uri="{9D8B030D-6E8A-4147-A177-3AD203B41FA5}">
                      <a16:colId xmlns:a16="http://schemas.microsoft.com/office/drawing/2014/main" val="20000"/>
                    </a:ext>
                  </a:extLst>
                </a:gridCol>
                <a:gridCol w="171196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5580">
                <a:tc>
                  <a:txBody>
                    <a:bodyPr/>
                    <a:lstStyle/>
                    <a:p>
                      <a:pPr marR="62865" algn="ctr">
                        <a:lnSpc>
                          <a:spcPct val="100000"/>
                        </a:lnSpc>
                        <a:spcBef>
                          <a:spcPts val="130"/>
                        </a:spcBef>
                      </a:pPr>
                      <a:r>
                        <a:rPr sz="900" b="1" spc="-20" dirty="0">
                          <a:latin typeface="Arial"/>
                          <a:cs typeface="Arial"/>
                        </a:rPr>
                        <a:t>Term</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Example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8615">
                <a:tc>
                  <a:txBody>
                    <a:bodyPr/>
                    <a:lstStyle/>
                    <a:p>
                      <a:pPr algn="ctr">
                        <a:lnSpc>
                          <a:spcPct val="100000"/>
                        </a:lnSpc>
                        <a:spcBef>
                          <a:spcPts val="185"/>
                        </a:spcBef>
                      </a:pPr>
                      <a:r>
                        <a:rPr sz="900" spc="-10" dirty="0">
                          <a:solidFill>
                            <a:srgbClr val="C80000"/>
                          </a:solidFill>
                          <a:latin typeface="Arial"/>
                          <a:cs typeface="Arial"/>
                        </a:rPr>
                        <a:t>Failure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74930">
                        <a:lnSpc>
                          <a:spcPct val="111600"/>
                        </a:lnSpc>
                        <a:spcBef>
                          <a:spcPts val="60"/>
                        </a:spcBef>
                      </a:pPr>
                      <a:r>
                        <a:rPr sz="900" dirty="0">
                          <a:latin typeface="Arial"/>
                          <a:cs typeface="Arial"/>
                        </a:rPr>
                        <a:t>A</a:t>
                      </a:r>
                      <a:r>
                        <a:rPr sz="900" spc="-25" dirty="0">
                          <a:latin typeface="Arial"/>
                          <a:cs typeface="Arial"/>
                        </a:rPr>
                        <a:t> </a:t>
                      </a:r>
                      <a:r>
                        <a:rPr sz="900" dirty="0">
                          <a:latin typeface="Arial"/>
                          <a:cs typeface="Arial"/>
                        </a:rPr>
                        <a:t>component</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not</a:t>
                      </a:r>
                      <a:r>
                        <a:rPr sz="900" spc="-25" dirty="0">
                          <a:latin typeface="Arial"/>
                          <a:cs typeface="Arial"/>
                        </a:rPr>
                        <a:t> </a:t>
                      </a:r>
                      <a:r>
                        <a:rPr sz="900" dirty="0">
                          <a:latin typeface="Arial"/>
                          <a:cs typeface="Arial"/>
                        </a:rPr>
                        <a:t>living</a:t>
                      </a:r>
                      <a:r>
                        <a:rPr sz="900" spc="-20" dirty="0">
                          <a:latin typeface="Arial"/>
                          <a:cs typeface="Arial"/>
                        </a:rPr>
                        <a:t> </a:t>
                      </a:r>
                      <a:r>
                        <a:rPr sz="900" dirty="0">
                          <a:latin typeface="Arial"/>
                          <a:cs typeface="Arial"/>
                        </a:rPr>
                        <a:t>up</a:t>
                      </a:r>
                      <a:r>
                        <a:rPr sz="900" spc="-25" dirty="0">
                          <a:latin typeface="Arial"/>
                          <a:cs typeface="Arial"/>
                        </a:rPr>
                        <a:t> to </a:t>
                      </a:r>
                      <a:r>
                        <a:rPr sz="900" dirty="0">
                          <a:latin typeface="Arial"/>
                          <a:cs typeface="Arial"/>
                        </a:rPr>
                        <a:t>its</a:t>
                      </a:r>
                      <a:r>
                        <a:rPr sz="900" spc="-15" dirty="0">
                          <a:latin typeface="Arial"/>
                          <a:cs typeface="Arial"/>
                        </a:rPr>
                        <a:t> </a:t>
                      </a:r>
                      <a:r>
                        <a:rPr sz="900" spc="-10" dirty="0">
                          <a:latin typeface="Arial"/>
                          <a:cs typeface="Arial"/>
                        </a:rPr>
                        <a:t>specifications</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Crashed</a:t>
                      </a:r>
                      <a:r>
                        <a:rPr sz="900" spc="-50" dirty="0">
                          <a:latin typeface="Arial"/>
                          <a:cs typeface="Arial"/>
                        </a:rPr>
                        <a:t> </a:t>
                      </a:r>
                      <a:r>
                        <a:rPr sz="900" spc="-10" dirty="0">
                          <a:latin typeface="Arial"/>
                          <a:cs typeface="Arial"/>
                        </a:rPr>
                        <a:t>program</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41630">
                <a:tc>
                  <a:txBody>
                    <a:bodyPr/>
                    <a:lstStyle/>
                    <a:p>
                      <a:pPr marR="81280" algn="ctr">
                        <a:lnSpc>
                          <a:spcPct val="100000"/>
                        </a:lnSpc>
                        <a:spcBef>
                          <a:spcPts val="130"/>
                        </a:spcBef>
                      </a:pPr>
                      <a:r>
                        <a:rPr sz="900" spc="-10" dirty="0">
                          <a:solidFill>
                            <a:srgbClr val="C80000"/>
                          </a:solidFill>
                          <a:latin typeface="Arial"/>
                          <a:cs typeface="Arial"/>
                        </a:rPr>
                        <a:t>Error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163195">
                        <a:lnSpc>
                          <a:spcPct val="111600"/>
                        </a:lnSpc>
                        <a:spcBef>
                          <a:spcPts val="5"/>
                        </a:spcBef>
                      </a:pPr>
                      <a:r>
                        <a:rPr sz="900" dirty="0">
                          <a:latin typeface="Arial"/>
                          <a:cs typeface="Arial"/>
                        </a:rPr>
                        <a:t>Part</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component</a:t>
                      </a:r>
                      <a:r>
                        <a:rPr sz="900" spc="-20" dirty="0">
                          <a:latin typeface="Arial"/>
                          <a:cs typeface="Arial"/>
                        </a:rPr>
                        <a:t> </a:t>
                      </a:r>
                      <a:r>
                        <a:rPr sz="900" dirty="0">
                          <a:latin typeface="Arial"/>
                          <a:cs typeface="Arial"/>
                        </a:rPr>
                        <a:t>that</a:t>
                      </a:r>
                      <a:r>
                        <a:rPr sz="900" spc="-25" dirty="0">
                          <a:latin typeface="Arial"/>
                          <a:cs typeface="Arial"/>
                        </a:rPr>
                        <a:t> can </a:t>
                      </a:r>
                      <a:r>
                        <a:rPr sz="900" dirty="0">
                          <a:latin typeface="Arial"/>
                          <a:cs typeface="Arial"/>
                        </a:rPr>
                        <a:t>lead</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failure</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Programming</a:t>
                      </a:r>
                      <a:r>
                        <a:rPr sz="900" spc="30" dirty="0">
                          <a:latin typeface="Arial"/>
                          <a:cs typeface="Arial"/>
                        </a:rPr>
                        <a:t> </a:t>
                      </a:r>
                      <a:r>
                        <a:rPr sz="900" spc="-25" dirty="0">
                          <a:latin typeface="Arial"/>
                          <a:cs typeface="Arial"/>
                        </a:rPr>
                        <a:t>bug</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8595">
                <a:tc>
                  <a:txBody>
                    <a:bodyPr/>
                    <a:lstStyle/>
                    <a:p>
                      <a:pPr marR="86995" algn="ctr">
                        <a:lnSpc>
                          <a:spcPct val="100000"/>
                        </a:lnSpc>
                        <a:spcBef>
                          <a:spcPts val="130"/>
                        </a:spcBef>
                      </a:pPr>
                      <a:r>
                        <a:rPr sz="900" spc="-10" dirty="0">
                          <a:solidFill>
                            <a:srgbClr val="C80000"/>
                          </a:solidFill>
                          <a:latin typeface="Arial"/>
                          <a:cs typeface="Arial"/>
                        </a:rPr>
                        <a:t>Fault</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Cause</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error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Sloppy</a:t>
                      </a:r>
                      <a:r>
                        <a:rPr sz="900" spc="-5" dirty="0">
                          <a:latin typeface="Arial"/>
                          <a:cs typeface="Arial"/>
                        </a:rPr>
                        <a:t> </a:t>
                      </a:r>
                      <a:r>
                        <a:rPr sz="900" spc="-10" dirty="0">
                          <a:latin typeface="Arial"/>
                          <a:cs typeface="Arial"/>
                        </a:rPr>
                        <a:t>programmer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089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الموثوقية</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1110615" cy="49466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المصطلحات</a:t>
            </a:r>
          </a:p>
          <a:p>
            <a:pPr marL="264160" rtl="1">
              <a:lnSpc>
                <a:spcPct val="100000"/>
              </a:lnSpc>
              <a:spcBef>
                <a:spcPts val="1055"/>
              </a:spcBef>
            </a:pPr>
            <a:endParaRPr sz="1000">
              <a:latin typeface="Arial"/>
              <a:cs typeface="Arial"/>
            </a:endParaRPr>
            <a:r>
              <a:rPr lang="ar-SA" altLang="en-US" sz="1000">
                <a:latin typeface="Arial"/>
              </a:rPr>
              <a:t>معالجة الثغرات</a:t>
            </a:r>
          </a:p>
        </p:txBody>
      </p:sp>
      <p:graphicFrame>
        <p:nvGraphicFramePr>
          <p:cNvPr id="6" name="object 6"/>
          <p:cNvGraphicFramePr>
            <a:graphicFrameLocks noGrp="1"/>
          </p:cNvGraphicFramePr>
          <p:nvPr/>
        </p:nvGraphicFramePr>
        <p:xfrm>
          <a:off x="510933" y="793788"/>
          <a:ext cx="3581398" cy="2181225"/>
        </p:xfrm>
        <a:graphic>
          <a:graphicData uri="http://schemas.openxmlformats.org/drawingml/2006/table">
            <a:tbl>
              <a:tblPr firstRow="1" bandRow="1">
                <a:tableStyleId>{2D5ABB26-0587-4C30-8999-92F81FD0307C}</a:tableStyleId>
              </a:tblPr>
              <a:tblGrid>
                <a:gridCol w="934719">
                  <a:extLst>
                    <a:ext uri="{9D8B030D-6E8A-4147-A177-3AD203B41FA5}">
                      <a16:colId xmlns:a16="http://schemas.microsoft.com/office/drawing/2014/main" val="20000"/>
                    </a:ext>
                  </a:extLst>
                </a:gridCol>
                <a:gridCol w="132334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5580">
                <a:tc>
                  <a:txBody>
                    <a:bodyPr/>
                    <a:lstStyle/>
                    <a:p>
                      <a:pPr marL="78105">
                        <a:lnSpc>
                          <a:spcPct val="100000"/>
                        </a:lnSpc>
                        <a:spcBef>
                          <a:spcPts val="130"/>
                        </a:spcBef>
                      </a:pPr>
                      <a:r>
                        <a:rPr sz="900" b="1" spc="-20" dirty="0">
                          <a:latin typeface="Arial"/>
                          <a:cs typeface="Arial"/>
                        </a:rPr>
                        <a:t>Term</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Example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8615">
                <a:tc>
                  <a:txBody>
                    <a:bodyPr/>
                    <a:lstStyle/>
                    <a:p>
                      <a:pPr marL="78105" marR="322580">
                        <a:lnSpc>
                          <a:spcPct val="111600"/>
                        </a:lnSpc>
                        <a:spcBef>
                          <a:spcPts val="60"/>
                        </a:spcBef>
                      </a:pPr>
                      <a:r>
                        <a:rPr sz="900" spc="-10" dirty="0">
                          <a:solidFill>
                            <a:srgbClr val="C80000"/>
                          </a:solidFill>
                          <a:latin typeface="Arial"/>
                          <a:cs typeface="Arial"/>
                        </a:rPr>
                        <a:t>Fault prevention</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70485">
                        <a:lnSpc>
                          <a:spcPct val="111600"/>
                        </a:lnSpc>
                        <a:spcBef>
                          <a:spcPts val="60"/>
                        </a:spcBef>
                      </a:pPr>
                      <a:r>
                        <a:rPr sz="900" spc="-10" dirty="0">
                          <a:latin typeface="Arial"/>
                          <a:cs typeface="Arial"/>
                        </a:rPr>
                        <a:t>Prevent</a:t>
                      </a:r>
                      <a:r>
                        <a:rPr sz="900" spc="-2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occurrence </a:t>
                      </a:r>
                      <a:r>
                        <a:rPr sz="900" dirty="0">
                          <a:latin typeface="Arial"/>
                          <a:cs typeface="Arial"/>
                        </a:rPr>
                        <a:t>of</a:t>
                      </a:r>
                      <a:r>
                        <a:rPr sz="900" spc="-15" dirty="0">
                          <a:latin typeface="Arial"/>
                          <a:cs typeface="Arial"/>
                        </a:rPr>
                        <a:t> </a:t>
                      </a:r>
                      <a:r>
                        <a:rPr sz="900" dirty="0">
                          <a:latin typeface="Arial"/>
                          <a:cs typeface="Arial"/>
                        </a:rPr>
                        <a:t>a</a:t>
                      </a:r>
                      <a:r>
                        <a:rPr sz="900" spc="-10" dirty="0">
                          <a:latin typeface="Arial"/>
                          <a:cs typeface="Arial"/>
                        </a:rPr>
                        <a:t> </a:t>
                      </a:r>
                      <a:r>
                        <a:rPr sz="900" spc="-20" dirty="0">
                          <a:latin typeface="Arial"/>
                          <a:cs typeface="Arial"/>
                        </a:rPr>
                        <a:t>fault</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392430">
                        <a:lnSpc>
                          <a:spcPct val="111600"/>
                        </a:lnSpc>
                        <a:spcBef>
                          <a:spcPts val="60"/>
                        </a:spcBef>
                      </a:pPr>
                      <a:r>
                        <a:rPr sz="900" dirty="0">
                          <a:latin typeface="Arial"/>
                          <a:cs typeface="Arial"/>
                        </a:rPr>
                        <a:t>Don’t</a:t>
                      </a:r>
                      <a:r>
                        <a:rPr sz="900" spc="-25" dirty="0">
                          <a:latin typeface="Arial"/>
                          <a:cs typeface="Arial"/>
                        </a:rPr>
                        <a:t> </a:t>
                      </a:r>
                      <a:r>
                        <a:rPr sz="900" dirty="0">
                          <a:latin typeface="Arial"/>
                          <a:cs typeface="Arial"/>
                        </a:rPr>
                        <a:t>hire</a:t>
                      </a:r>
                      <a:r>
                        <a:rPr sz="900" spc="-25" dirty="0">
                          <a:latin typeface="Arial"/>
                          <a:cs typeface="Arial"/>
                        </a:rPr>
                        <a:t> </a:t>
                      </a:r>
                      <a:r>
                        <a:rPr sz="900" spc="-10" dirty="0">
                          <a:latin typeface="Arial"/>
                          <a:cs typeface="Arial"/>
                        </a:rPr>
                        <a:t>sloppy programmers</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94665">
                <a:tc>
                  <a:txBody>
                    <a:bodyPr/>
                    <a:lstStyle/>
                    <a:p>
                      <a:pPr marL="78105">
                        <a:lnSpc>
                          <a:spcPct val="100000"/>
                        </a:lnSpc>
                        <a:spcBef>
                          <a:spcPts val="130"/>
                        </a:spcBef>
                      </a:pPr>
                      <a:r>
                        <a:rPr sz="900" spc="-10" dirty="0">
                          <a:solidFill>
                            <a:srgbClr val="C80000"/>
                          </a:solidFill>
                          <a:latin typeface="Arial"/>
                          <a:cs typeface="Arial"/>
                        </a:rPr>
                        <a:t>Fault</a:t>
                      </a:r>
                      <a:r>
                        <a:rPr sz="900" spc="-30" dirty="0">
                          <a:solidFill>
                            <a:srgbClr val="C80000"/>
                          </a:solidFill>
                          <a:latin typeface="Arial"/>
                          <a:cs typeface="Arial"/>
                        </a:rPr>
                        <a:t> </a:t>
                      </a:r>
                      <a:r>
                        <a:rPr sz="900" spc="-10" dirty="0">
                          <a:solidFill>
                            <a:srgbClr val="C80000"/>
                          </a:solidFill>
                          <a:latin typeface="Arial"/>
                          <a:cs typeface="Arial"/>
                        </a:rPr>
                        <a:t>tolerance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2390">
                        <a:lnSpc>
                          <a:spcPct val="111600"/>
                        </a:lnSpc>
                        <a:spcBef>
                          <a:spcPts val="5"/>
                        </a:spcBef>
                      </a:pPr>
                      <a:r>
                        <a:rPr sz="900" dirty="0">
                          <a:latin typeface="Arial"/>
                          <a:cs typeface="Arial"/>
                        </a:rPr>
                        <a:t>Build</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component</a:t>
                      </a:r>
                      <a:r>
                        <a:rPr sz="900" spc="-25" dirty="0">
                          <a:latin typeface="Arial"/>
                          <a:cs typeface="Arial"/>
                        </a:rPr>
                        <a:t> and </a:t>
                      </a:r>
                      <a:r>
                        <a:rPr sz="900" dirty="0">
                          <a:latin typeface="Arial"/>
                          <a:cs typeface="Arial"/>
                        </a:rPr>
                        <a:t>make</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mask</a:t>
                      </a:r>
                      <a:r>
                        <a:rPr sz="900" spc="-25" dirty="0">
                          <a:latin typeface="Arial"/>
                          <a:cs typeface="Arial"/>
                        </a:rPr>
                        <a:t> the </a:t>
                      </a:r>
                      <a:r>
                        <a:rPr sz="900" dirty="0">
                          <a:latin typeface="Arial"/>
                          <a:cs typeface="Arial"/>
                        </a:rPr>
                        <a:t>occurrence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fault</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110489">
                        <a:lnSpc>
                          <a:spcPct val="111600"/>
                        </a:lnSpc>
                        <a:spcBef>
                          <a:spcPts val="5"/>
                        </a:spcBef>
                      </a:pPr>
                      <a:r>
                        <a:rPr sz="900" dirty="0">
                          <a:latin typeface="Arial"/>
                          <a:cs typeface="Arial"/>
                        </a:rPr>
                        <a:t>Build</a:t>
                      </a:r>
                      <a:r>
                        <a:rPr sz="900" spc="-25" dirty="0">
                          <a:latin typeface="Arial"/>
                          <a:cs typeface="Arial"/>
                        </a:rPr>
                        <a:t> </a:t>
                      </a:r>
                      <a:r>
                        <a:rPr sz="900" dirty="0">
                          <a:latin typeface="Arial"/>
                          <a:cs typeface="Arial"/>
                        </a:rPr>
                        <a:t>each</a:t>
                      </a:r>
                      <a:r>
                        <a:rPr sz="900" spc="-25" dirty="0">
                          <a:latin typeface="Arial"/>
                          <a:cs typeface="Arial"/>
                        </a:rPr>
                        <a:t> </a:t>
                      </a:r>
                      <a:r>
                        <a:rPr sz="900" spc="-10" dirty="0">
                          <a:latin typeface="Arial"/>
                          <a:cs typeface="Arial"/>
                        </a:rPr>
                        <a:t>component </a:t>
                      </a:r>
                      <a:r>
                        <a:rPr sz="900" dirty="0">
                          <a:latin typeface="Arial"/>
                          <a:cs typeface="Arial"/>
                        </a:rPr>
                        <a:t>by</a:t>
                      </a:r>
                      <a:r>
                        <a:rPr sz="900" spc="-35" dirty="0">
                          <a:latin typeface="Arial"/>
                          <a:cs typeface="Arial"/>
                        </a:rPr>
                        <a:t> </a:t>
                      </a:r>
                      <a:r>
                        <a:rPr sz="900" dirty="0">
                          <a:latin typeface="Arial"/>
                          <a:cs typeface="Arial"/>
                        </a:rPr>
                        <a:t>two</a:t>
                      </a:r>
                      <a:r>
                        <a:rPr sz="900" spc="-30" dirty="0">
                          <a:latin typeface="Arial"/>
                          <a:cs typeface="Arial"/>
                        </a:rPr>
                        <a:t> </a:t>
                      </a:r>
                      <a:r>
                        <a:rPr sz="900" spc="-10" dirty="0">
                          <a:latin typeface="Arial"/>
                          <a:cs typeface="Arial"/>
                        </a:rPr>
                        <a:t>independent 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4665">
                <a:tc>
                  <a:txBody>
                    <a:bodyPr/>
                    <a:lstStyle/>
                    <a:p>
                      <a:pPr marL="78105">
                        <a:lnSpc>
                          <a:spcPct val="100000"/>
                        </a:lnSpc>
                        <a:spcBef>
                          <a:spcPts val="130"/>
                        </a:spcBef>
                      </a:pPr>
                      <a:r>
                        <a:rPr sz="900" spc="-10" dirty="0">
                          <a:solidFill>
                            <a:srgbClr val="C80000"/>
                          </a:solidFill>
                          <a:latin typeface="Arial"/>
                          <a:cs typeface="Arial"/>
                        </a:rPr>
                        <a:t>Fault</a:t>
                      </a:r>
                      <a:r>
                        <a:rPr sz="900" spc="-30" dirty="0">
                          <a:solidFill>
                            <a:srgbClr val="C80000"/>
                          </a:solidFill>
                          <a:latin typeface="Arial"/>
                          <a:cs typeface="Arial"/>
                        </a:rPr>
                        <a:t> </a:t>
                      </a:r>
                      <a:r>
                        <a:rPr sz="900" spc="-10" dirty="0">
                          <a:solidFill>
                            <a:srgbClr val="C80000"/>
                          </a:solidFill>
                          <a:latin typeface="Arial"/>
                          <a:cs typeface="Arial"/>
                        </a:rPr>
                        <a:t>removal</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0485">
                        <a:lnSpc>
                          <a:spcPct val="111600"/>
                        </a:lnSpc>
                        <a:spcBef>
                          <a:spcPts val="5"/>
                        </a:spcBef>
                      </a:pPr>
                      <a:r>
                        <a:rPr sz="900" dirty="0">
                          <a:latin typeface="Arial"/>
                          <a:cs typeface="Arial"/>
                        </a:rPr>
                        <a:t>Reduce</a:t>
                      </a:r>
                      <a:r>
                        <a:rPr sz="900" spc="-3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presence, </a:t>
                      </a:r>
                      <a:r>
                        <a:rPr sz="900" spc="-20" dirty="0">
                          <a:latin typeface="Arial"/>
                          <a:cs typeface="Arial"/>
                        </a:rPr>
                        <a:t>number,</a:t>
                      </a:r>
                      <a:r>
                        <a:rPr sz="900" spc="-5" dirty="0">
                          <a:latin typeface="Arial"/>
                          <a:cs typeface="Arial"/>
                        </a:rPr>
                        <a:t> </a:t>
                      </a:r>
                      <a:r>
                        <a:rPr sz="900" dirty="0">
                          <a:latin typeface="Arial"/>
                          <a:cs typeface="Arial"/>
                        </a:rPr>
                        <a:t>or</a:t>
                      </a:r>
                      <a:r>
                        <a:rPr sz="900" spc="-5" dirty="0">
                          <a:latin typeface="Arial"/>
                          <a:cs typeface="Arial"/>
                        </a:rPr>
                        <a:t> </a:t>
                      </a:r>
                      <a:r>
                        <a:rPr sz="900" spc="-10" dirty="0">
                          <a:latin typeface="Arial"/>
                          <a:cs typeface="Arial"/>
                        </a:rPr>
                        <a:t>seriousness </a:t>
                      </a:r>
                      <a:r>
                        <a:rPr sz="900" dirty="0">
                          <a:latin typeface="Arial"/>
                          <a:cs typeface="Arial"/>
                        </a:rPr>
                        <a:t>of</a:t>
                      </a:r>
                      <a:r>
                        <a:rPr sz="900" spc="-15" dirty="0">
                          <a:latin typeface="Arial"/>
                          <a:cs typeface="Arial"/>
                        </a:rPr>
                        <a:t> </a:t>
                      </a:r>
                      <a:r>
                        <a:rPr sz="900" dirty="0">
                          <a:latin typeface="Arial"/>
                          <a:cs typeface="Arial"/>
                        </a:rPr>
                        <a:t>a</a:t>
                      </a:r>
                      <a:r>
                        <a:rPr sz="900" spc="-10" dirty="0">
                          <a:latin typeface="Arial"/>
                          <a:cs typeface="Arial"/>
                        </a:rPr>
                        <a:t> </a:t>
                      </a:r>
                      <a:r>
                        <a:rPr sz="900" spc="-20" dirty="0">
                          <a:latin typeface="Arial"/>
                          <a:cs typeface="Arial"/>
                        </a:rPr>
                        <a:t>fault</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09575">
                        <a:lnSpc>
                          <a:spcPct val="111600"/>
                        </a:lnSpc>
                        <a:spcBef>
                          <a:spcPts val="5"/>
                        </a:spcBef>
                      </a:pPr>
                      <a:r>
                        <a:rPr sz="900" dirty="0">
                          <a:latin typeface="Arial"/>
                          <a:cs typeface="Arial"/>
                        </a:rPr>
                        <a:t>Get</a:t>
                      </a:r>
                      <a:r>
                        <a:rPr sz="900" spc="-15" dirty="0">
                          <a:latin typeface="Arial"/>
                          <a:cs typeface="Arial"/>
                        </a:rPr>
                        <a:t> </a:t>
                      </a:r>
                      <a:r>
                        <a:rPr sz="900" dirty="0">
                          <a:latin typeface="Arial"/>
                          <a:cs typeface="Arial"/>
                        </a:rPr>
                        <a:t>rid</a:t>
                      </a:r>
                      <a:r>
                        <a:rPr sz="900" spc="-10"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sloppy 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47700">
                <a:tc>
                  <a:txBody>
                    <a:bodyPr/>
                    <a:lstStyle/>
                    <a:p>
                      <a:pPr marL="78105" marR="294640">
                        <a:lnSpc>
                          <a:spcPct val="111600"/>
                        </a:lnSpc>
                        <a:spcBef>
                          <a:spcPts val="5"/>
                        </a:spcBef>
                      </a:pPr>
                      <a:r>
                        <a:rPr sz="900" spc="-10" dirty="0">
                          <a:solidFill>
                            <a:srgbClr val="C80000"/>
                          </a:solidFill>
                          <a:latin typeface="Arial"/>
                          <a:cs typeface="Arial"/>
                        </a:rPr>
                        <a:t>Fault forecasting</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5565">
                        <a:lnSpc>
                          <a:spcPct val="111600"/>
                        </a:lnSpc>
                        <a:spcBef>
                          <a:spcPts val="5"/>
                        </a:spcBef>
                      </a:pPr>
                      <a:r>
                        <a:rPr sz="900" dirty="0">
                          <a:latin typeface="Arial"/>
                          <a:cs typeface="Arial"/>
                        </a:rPr>
                        <a:t>Estimate</a:t>
                      </a:r>
                      <a:r>
                        <a:rPr sz="900" spc="-50" dirty="0">
                          <a:latin typeface="Arial"/>
                          <a:cs typeface="Arial"/>
                        </a:rPr>
                        <a:t> </a:t>
                      </a:r>
                      <a:r>
                        <a:rPr sz="900" spc="-10" dirty="0">
                          <a:latin typeface="Arial"/>
                          <a:cs typeface="Arial"/>
                        </a:rPr>
                        <a:t>current </a:t>
                      </a:r>
                      <a:r>
                        <a:rPr sz="900" dirty="0">
                          <a:latin typeface="Arial"/>
                          <a:cs typeface="Arial"/>
                        </a:rPr>
                        <a:t>presence,</a:t>
                      </a:r>
                      <a:r>
                        <a:rPr sz="900" spc="-60" dirty="0">
                          <a:latin typeface="Arial"/>
                          <a:cs typeface="Arial"/>
                        </a:rPr>
                        <a:t> </a:t>
                      </a:r>
                      <a:r>
                        <a:rPr sz="900" spc="-10" dirty="0">
                          <a:latin typeface="Arial"/>
                          <a:cs typeface="Arial"/>
                        </a:rPr>
                        <a:t>future </a:t>
                      </a:r>
                      <a:r>
                        <a:rPr sz="900" dirty="0">
                          <a:latin typeface="Arial"/>
                          <a:cs typeface="Arial"/>
                        </a:rPr>
                        <a:t>incidence,</a:t>
                      </a:r>
                      <a:r>
                        <a:rPr sz="900" spc="-65" dirty="0">
                          <a:latin typeface="Arial"/>
                          <a:cs typeface="Arial"/>
                        </a:rPr>
                        <a:t> </a:t>
                      </a:r>
                      <a:r>
                        <a:rPr sz="900" spc="-25" dirty="0">
                          <a:latin typeface="Arial"/>
                          <a:cs typeface="Arial"/>
                        </a:rPr>
                        <a:t>and </a:t>
                      </a:r>
                      <a:r>
                        <a:rPr sz="900" spc="-10" dirty="0">
                          <a:latin typeface="Arial"/>
                          <a:cs typeface="Arial"/>
                        </a:rPr>
                        <a:t>consequences</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faults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89535">
                        <a:lnSpc>
                          <a:spcPct val="111600"/>
                        </a:lnSpc>
                        <a:spcBef>
                          <a:spcPts val="5"/>
                        </a:spcBef>
                      </a:pPr>
                      <a:r>
                        <a:rPr sz="900" dirty="0">
                          <a:latin typeface="Arial"/>
                          <a:cs typeface="Arial"/>
                        </a:rPr>
                        <a:t>Estimate</a:t>
                      </a:r>
                      <a:r>
                        <a:rPr sz="900" spc="-40" dirty="0">
                          <a:latin typeface="Arial"/>
                          <a:cs typeface="Arial"/>
                        </a:rPr>
                        <a:t> </a:t>
                      </a:r>
                      <a:r>
                        <a:rPr sz="900" dirty="0">
                          <a:latin typeface="Arial"/>
                          <a:cs typeface="Arial"/>
                        </a:rPr>
                        <a:t>how</a:t>
                      </a:r>
                      <a:r>
                        <a:rPr sz="900" spc="-40" dirty="0">
                          <a:latin typeface="Arial"/>
                          <a:cs typeface="Arial"/>
                        </a:rPr>
                        <a:t> </a:t>
                      </a:r>
                      <a:r>
                        <a:rPr sz="900" spc="-50" dirty="0">
                          <a:latin typeface="Arial"/>
                          <a:cs typeface="Arial"/>
                        </a:rPr>
                        <a:t>a</a:t>
                      </a:r>
                      <a:r>
                        <a:rPr sz="900" dirty="0">
                          <a:latin typeface="Arial"/>
                          <a:cs typeface="Arial"/>
                        </a:rPr>
                        <a:t> recruiter</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doing</a:t>
                      </a:r>
                      <a:r>
                        <a:rPr sz="900" spc="-25" dirty="0">
                          <a:latin typeface="Arial"/>
                          <a:cs typeface="Arial"/>
                        </a:rPr>
                        <a:t> </a:t>
                      </a:r>
                      <a:r>
                        <a:rPr sz="900" spc="-20" dirty="0">
                          <a:latin typeface="Arial"/>
                          <a:cs typeface="Arial"/>
                        </a:rPr>
                        <a:t>when </a:t>
                      </a:r>
                      <a:r>
                        <a:rPr sz="900" dirty="0">
                          <a:latin typeface="Arial"/>
                          <a:cs typeface="Arial"/>
                        </a:rPr>
                        <a:t>it</a:t>
                      </a:r>
                      <a:r>
                        <a:rPr sz="900" spc="-20" dirty="0">
                          <a:latin typeface="Arial"/>
                          <a:cs typeface="Arial"/>
                        </a:rPr>
                        <a:t> </a:t>
                      </a:r>
                      <a:r>
                        <a:rPr sz="900" dirty="0">
                          <a:latin typeface="Arial"/>
                          <a:cs typeface="Arial"/>
                        </a:rPr>
                        <a:t>comes</a:t>
                      </a:r>
                      <a:r>
                        <a:rPr sz="900" spc="-20"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hiring </a:t>
                      </a:r>
                      <a:r>
                        <a:rPr sz="900" dirty="0">
                          <a:latin typeface="Arial"/>
                          <a:cs typeface="Arial"/>
                        </a:rPr>
                        <a:t>sloppy</a:t>
                      </a:r>
                      <a:r>
                        <a:rPr sz="900" spc="-65" dirty="0">
                          <a:latin typeface="Arial"/>
                          <a:cs typeface="Arial"/>
                        </a:rPr>
                        <a:t> </a:t>
                      </a:r>
                      <a:r>
                        <a:rPr sz="900" spc="-10" dirty="0">
                          <a:latin typeface="Arial"/>
                          <a:cs typeface="Arial"/>
                        </a:rPr>
                        <a:t>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089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الموثوقية</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حول الأمان</a:t>
            </a:r>
          </a:p>
        </p:txBody>
      </p:sp>
      <p:sp>
        <p:nvSpPr>
          <p:cNvPr id="4" name="object 4"/>
          <p:cNvSpPr txBox="1"/>
          <p:nvPr/>
        </p:nvSpPr>
        <p:spPr>
          <a:xfrm>
            <a:off x="305028" y="499307"/>
            <a:ext cx="3982720" cy="2227580"/>
          </a:xfrm>
          <a:prstGeom prst="rect">
            <a:avLst/>
          </a:prstGeom>
        </p:spPr>
        <p:txBody>
          <a:bodyPr vert="horz" wrap="square" lIns="0" tIns="27305" rIns="0" bIns="0" rtlCol="0">
            <a:spAutoFit/>
          </a:bodyPr>
          <a:lstStyle/>
          <a:p>
            <a:pPr marL="54610" rtl="1">
              <a:lnSpc>
                <a:spcPct val="100000"/>
              </a:lnSpc>
              <a:spcBef>
                <a:spcPts val="215"/>
              </a:spcBef>
            </a:pPr>
            <a:endParaRPr sz="1000">
              <a:latin typeface="Arial"/>
              <a:cs typeface="Arial"/>
            </a:endParaRPr>
            <a:r>
              <a:rPr lang="ar-SA" altLang="en-US" sz="1000">
                <a:latin typeface="Arial"/>
              </a:rPr>
              <a:t>ملاحظة</a:t>
            </a:r>
          </a:p>
          <a:p>
            <a:pPr marL="50800" rtl="1">
              <a:lnSpc>
                <a:spcPct val="100000"/>
              </a:lnSpc>
              <a:spcBef>
                <a:spcPts val="105"/>
              </a:spcBef>
            </a:pPr>
            <a:endParaRPr sz="900">
              <a:latin typeface="Arial"/>
              <a:cs typeface="Arial"/>
            </a:endParaRPr>
            <a:r>
              <a:rPr lang="ar-SA" altLang="en-US" sz="900">
                <a:latin typeface="Arial"/>
              </a:rPr>
              <a:t>النظام الموزع غير الآمن ليس نظامًا موثوقًا</a:t>
            </a:r>
          </a:p>
          <a:p>
            <a:pPr marL="48895" rtl="1">
              <a:lnSpc>
                <a:spcPct val="100000"/>
              </a:lnSpc>
              <a:spcBef>
                <a:spcPts val="815"/>
              </a:spcBef>
            </a:pPr>
            <a:endParaRPr sz="1000">
              <a:latin typeface="Arial"/>
              <a:cs typeface="Arial"/>
            </a:endParaRPr>
            <a:r>
              <a:rPr lang="ar-SA" altLang="en-US" sz="1000">
                <a:latin typeface="Arial"/>
              </a:rPr>
              <a:t>ما نحتاجه</a:t>
            </a:r>
          </a:p>
          <a:p>
            <a:pPr marL="307975" indent="-121285" rtl="1">
              <a:lnSpc>
                <a:spcPct val="100000"/>
              </a:lnSpc>
              <a:spcBef>
                <a:spcPts val="500"/>
              </a:spcBef>
              <a:buClr>
                <a:srgbClr val="3333B2"/>
              </a:buClr>
              <a:buFont typeface="Menlo"/>
              <a:buChar char="•"/>
              <a:tabLst>
                <a:tab pos="308610" algn="l"/>
              </a:tabLst>
            </a:pPr>
            <a:endParaRPr sz="900">
              <a:latin typeface="Arial"/>
              <a:cs typeface="Arial"/>
            </a:endParaRPr>
            <a:r>
              <a:rPr lang="ar-SA" altLang="en-US" sz="900">
                <a:latin typeface="Arial"/>
              </a:rPr>
              <a:t>السرية: لا تُكشف المعلومات إلا للأطراف المخوّلة</a:t>
            </a:r>
          </a:p>
          <a:p>
            <a:pPr marL="307975" marR="30480" indent="-120650" rtl="1">
              <a:lnSpc>
                <a:spcPct val="111600"/>
              </a:lnSpc>
              <a:spcBef>
                <a:spcPts val="300"/>
              </a:spcBef>
              <a:buClr>
                <a:srgbClr val="3333B2"/>
              </a:buClr>
              <a:buFont typeface="Menlo"/>
              <a:buChar char="•"/>
              <a:tabLst>
                <a:tab pos="308610" algn="l"/>
              </a:tabLst>
            </a:pPr>
            <a:endParaRPr sz="900">
              <a:latin typeface="Arial"/>
              <a:cs typeface="Arial"/>
            </a:endParaRPr>
            <a:r>
              <a:rPr lang="ar-SA" altLang="en-US" sz="900">
                <a:latin typeface="Arial"/>
              </a:rPr>
              <a:t>النزاهة: ضمان أن تعديلات أصول النظام لا تتم إلا بطريقة مخوّلة</a:t>
            </a:r>
          </a:p>
          <a:p>
            <a:pPr>
              <a:lnSpc>
                <a:spcPct val="100000"/>
              </a:lnSpc>
              <a:spcBef>
                <a:spcPts val="25"/>
              </a:spcBef>
              <a:buClr>
                <a:srgbClr val="3333B2"/>
              </a:buClr>
              <a:buFont typeface="Menlo"/>
              <a:buChar char="•"/>
            </a:pPr>
            <a:endParaRPr sz="1200">
              <a:latin typeface="Arial"/>
              <a:cs typeface="Arial"/>
            </a:endParaRPr>
          </a:p>
          <a:p>
            <a:pPr marL="50800" rtl="1">
              <a:lnSpc>
                <a:spcPct val="100000"/>
              </a:lnSpc>
            </a:pPr>
            <a:endParaRPr sz="1000">
              <a:latin typeface="Arial"/>
              <a:cs typeface="Arial"/>
            </a:endParaRPr>
            <a:r>
              <a:rPr lang="ar-SA" altLang="en-US" sz="1000">
                <a:latin typeface="Arial"/>
              </a:rPr>
              <a:t>التفويض، المصادقة، الثقة</a:t>
            </a:r>
          </a:p>
          <a:p>
            <a:pPr marL="307975" indent="-121285" rtl="1">
              <a:lnSpc>
                <a:spcPct val="100000"/>
              </a:lnSpc>
              <a:spcBef>
                <a:spcPts val="630"/>
              </a:spcBef>
              <a:buFont typeface="Menlo"/>
              <a:buChar char="•"/>
              <a:tabLst>
                <a:tab pos="308610" algn="l"/>
              </a:tabLst>
            </a:pPr>
            <a:endParaRPr sz="900">
              <a:latin typeface="Arial"/>
              <a:cs typeface="Arial"/>
            </a:endParaRPr>
            <a:r>
              <a:rPr lang="ar-SA" altLang="en-US" sz="900">
                <a:latin typeface="Arial"/>
              </a:rPr>
              <a:t>المصادقة: التحقق من صحة الهوية المُدّعاة</a:t>
            </a:r>
          </a:p>
          <a:p>
            <a:pPr marL="307975" indent="-121285" rtl="1">
              <a:lnSpc>
                <a:spcPct val="100000"/>
              </a:lnSpc>
              <a:spcBef>
                <a:spcPts val="425"/>
              </a:spcBef>
              <a:buFont typeface="Menlo"/>
              <a:buChar char="•"/>
              <a:tabLst>
                <a:tab pos="308610" algn="l"/>
              </a:tabLst>
            </a:pPr>
            <a:endParaRPr sz="900">
              <a:latin typeface="Arial"/>
              <a:cs typeface="Arial"/>
            </a:endParaRPr>
            <a:r>
              <a:rPr lang="ar-SA" altLang="en-US" sz="900">
                <a:latin typeface="Arial"/>
              </a:rPr>
              <a:t>التفويض: هل تمتلك الجهة المُعرَّفة حقوق الوصول المناسبة؟</a:t>
            </a:r>
          </a:p>
          <a:p>
            <a:pPr marL="307975" marR="287655" indent="-120650" rtl="1">
              <a:lnSpc>
                <a:spcPct val="111600"/>
              </a:lnSpc>
              <a:spcBef>
                <a:spcPts val="300"/>
              </a:spcBef>
              <a:buFont typeface="Menlo"/>
              <a:buChar char="•"/>
              <a:tabLst>
                <a:tab pos="308610" algn="l"/>
              </a:tabLst>
            </a:pPr>
            <a:endParaRPr sz="900">
              <a:latin typeface="Arial"/>
              <a:cs typeface="Arial"/>
            </a:endParaRPr>
            <a:r>
              <a:rPr lang="ar-SA" altLang="en-US" sz="900">
                <a:latin typeface="Arial"/>
              </a:rPr>
              <a:t>الثقة: ضمان أن جهة ما ستؤدي إجراءات محددة وفق توقع معين</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25527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الأمان</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3497579" cy="1076960"/>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آليات الأمان</a:t>
            </a:r>
          </a:p>
          <a:p>
            <a:pPr marL="264160" rtl="1">
              <a:lnSpc>
                <a:spcPct val="100000"/>
              </a:lnSpc>
              <a:spcBef>
                <a:spcPts val="1055"/>
              </a:spcBef>
            </a:pPr>
            <a:endParaRPr sz="1000">
              <a:latin typeface="Arial"/>
              <a:cs typeface="Arial"/>
            </a:endParaRPr>
            <a:r>
              <a:rPr lang="ar-SA" altLang="en-US" sz="1000">
                <a:latin typeface="Arial"/>
              </a:rPr>
              <a:t>البساطة أولًا</a:t>
            </a:r>
          </a:p>
          <a:p>
            <a:pPr marL="264160" rtl="1">
              <a:lnSpc>
                <a:spcPct val="100000"/>
              </a:lnSpc>
              <a:spcBef>
                <a:spcPts val="310"/>
              </a:spcBef>
            </a:pPr>
            <a:endParaRPr sz="900">
              <a:latin typeface="Arial"/>
              <a:cs typeface="Arial"/>
            </a:endParaRPr>
            <a:r>
              <a:rPr lang="ar-SA" altLang="en-US" sz="900">
                <a:latin typeface="Arial"/>
              </a:rPr>
              <a:t>الأمر كله يتعلق بتشفير البيانات وفك تشفيرها باستخدام مفاتيح أمنية.</a:t>
            </a:r>
          </a:p>
          <a:p>
            <a:pPr marL="264160" rtl="1">
              <a:lnSpc>
                <a:spcPct val="100000"/>
              </a:lnSpc>
              <a:spcBef>
                <a:spcPts val="815"/>
              </a:spcBef>
            </a:pPr>
            <a:endParaRPr sz="1000">
              <a:latin typeface="Arial"/>
              <a:cs typeface="Arial"/>
            </a:endParaRPr>
            <a:r>
              <a:rPr lang="ar-SA" altLang="en-US" sz="1000">
                <a:latin typeface="Arial"/>
              </a:rPr>
              <a:t>الترميز</a:t>
            </a:r>
          </a:p>
          <a:p>
            <a:pPr marL="264160" rtl="1">
              <a:lnSpc>
                <a:spcPct val="100000"/>
              </a:lnSpc>
              <a:spcBef>
                <a:spcPts val="105"/>
              </a:spcBef>
            </a:pPr>
            <a:endParaRPr sz="900">
              <a:latin typeface="Arial"/>
              <a:cs typeface="Arial"/>
            </a:endParaRPr>
            <a:r>
              <a:rPr lang="ar-SA" altLang="en-US" sz="900" i="1">
                <a:latin typeface="Arial"/>
              </a:rPr>
              <a:t>K (data) تعني استخدام المفتاح K لتشفير البيانات أو فك تشفيرها.</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25527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الأمان</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8" name="object 8"/>
          <p:cNvSpPr txBox="1"/>
          <p:nvPr/>
        </p:nvSpPr>
        <p:spPr>
          <a:xfrm>
            <a:off x="69900" y="197711"/>
            <a:ext cx="4185285" cy="1412438"/>
          </a:xfrm>
          <a:prstGeom prst="rect">
            <a:avLst/>
          </a:prstGeom>
        </p:spPr>
        <p:txBody>
          <a:bodyPr vert="horz" wrap="square" lIns="0" tIns="12065" rIns="0" bIns="0" rtlCol="0">
            <a:spAutoFit/>
          </a:bodyPr>
          <a:lstStyle/>
          <a:p>
            <a:pPr marL="38100" rtl="1">
              <a:lnSpc>
                <a:spcPct val="100000"/>
              </a:lnSpc>
              <a:spcBef>
                <a:spcPts val="95"/>
              </a:spcBef>
            </a:pPr>
            <a:endParaRPr sz="1200">
              <a:latin typeface="Arial"/>
              <a:cs typeface="Arial"/>
            </a:endParaRPr>
            <a:r>
              <a:rPr lang="ar-SA" altLang="en-US" sz="1200">
                <a:latin typeface="Arial"/>
              </a:rPr>
              <a:t>آليات الأمان</a:t>
            </a:r>
          </a:p>
          <a:p>
            <a:pPr marL="289560" rtl="1">
              <a:lnSpc>
                <a:spcPct val="100000"/>
              </a:lnSpc>
              <a:spcBef>
                <a:spcPts val="1055"/>
              </a:spcBef>
            </a:pPr>
            <a:endParaRPr sz="1000">
              <a:latin typeface="Arial"/>
              <a:cs typeface="Arial"/>
            </a:endParaRPr>
            <a:r>
              <a:rPr lang="ar-SA" altLang="en-US" sz="1000">
                <a:latin typeface="Arial"/>
              </a:rPr>
              <a:t>نظام التشفير المتماثل</a:t>
            </a:r>
          </a:p>
          <a:p>
            <a:pPr marL="284480" rtl="1">
              <a:lnSpc>
                <a:spcPct val="100000"/>
              </a:lnSpc>
              <a:spcBef>
                <a:spcPts val="300"/>
              </a:spcBef>
            </a:pPr>
            <a:endParaRPr sz="900">
              <a:latin typeface="Arial"/>
              <a:cs typeface="Arial"/>
            </a:endParaRPr>
            <a:r>
              <a:rPr lang="ar-SA" altLang="en-US" sz="900">
                <a:latin typeface="Arial"/>
              </a:rPr>
              <a:t>باستخدام مفتاح التشفير EK(data) ومفتاح فك التشفير DK(data):</a:t>
            </a:r>
          </a:p>
          <a:p>
            <a:pPr marL="289560" marR="30480" rtl="1">
              <a:lnSpc>
                <a:spcPct val="111600"/>
              </a:lnSpc>
              <a:spcBef>
                <a:spcPts val="5"/>
              </a:spcBef>
            </a:pPr>
            <a:endParaRPr sz="900">
              <a:latin typeface="Arial"/>
              <a:cs typeface="Arial"/>
            </a:endParaRPr>
            <a:r>
              <a:rPr lang="ar-SA" altLang="en-US" sz="900" i="1">
                <a:latin typeface="Arial"/>
              </a:rPr>
              <a:t>إذا كان data = DK(EK(data)) فإن DK = EK. ملاحظة: مفتاح التشفير وفك التشفير واحد ويجب الحفاظ على سريته.</a:t>
            </a:r>
          </a:p>
          <a:p>
            <a:pPr marL="285750" rtl="1">
              <a:lnSpc>
                <a:spcPct val="100000"/>
              </a:lnSpc>
              <a:spcBef>
                <a:spcPts val="810"/>
              </a:spcBef>
            </a:pPr>
            <a:endParaRPr sz="1000">
              <a:latin typeface="Arial"/>
              <a:cs typeface="Arial"/>
            </a:endParaRPr>
            <a:r>
              <a:rPr lang="ar-SA" altLang="en-US" sz="1000">
                <a:latin typeface="Arial"/>
              </a:rPr>
              <a:t>نظام التشفير غير المتماثل</a:t>
            </a:r>
          </a:p>
          <a:p>
            <a:pPr marL="289560" rtl="1">
              <a:lnSpc>
                <a:spcPct val="100000"/>
              </a:lnSpc>
              <a:spcBef>
                <a:spcPts val="300"/>
              </a:spcBef>
            </a:pPr>
            <a:endParaRPr sz="900">
              <a:latin typeface="Arial"/>
              <a:cs typeface="Arial"/>
            </a:endParaRPr>
            <a:r>
              <a:rPr lang="ar-SA" altLang="en-US" sz="900">
                <a:latin typeface="Arial"/>
              </a:rPr>
              <a:t>التمييز بين المفتاح العام PK(data) والمفتاح الخاص (السري) SK(data).</a:t>
            </a:r>
          </a:p>
        </p:txBody>
      </p:sp>
      <p:grpSp>
        <p:nvGrpSpPr>
          <p:cNvPr id="28" name="object 28"/>
          <p:cNvGrpSpPr/>
          <p:nvPr/>
        </p:nvGrpSpPr>
        <p:grpSpPr>
          <a:xfrm>
            <a:off x="0" y="3348469"/>
            <a:ext cx="4608195" cy="107950"/>
            <a:chOff x="0" y="3348469"/>
            <a:chExt cx="4608195" cy="107950"/>
          </a:xfrm>
        </p:grpSpPr>
        <p:sp>
          <p:nvSpPr>
            <p:cNvPr id="29" name="object 2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30" name="object 3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31" name="object 31"/>
          <p:cNvSpPr txBox="1"/>
          <p:nvPr/>
        </p:nvSpPr>
        <p:spPr>
          <a:xfrm>
            <a:off x="53467" y="3349927"/>
            <a:ext cx="25527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الأمان</a:t>
            </a:r>
          </a:p>
        </p:txBody>
      </p:sp>
      <p:pic>
        <p:nvPicPr>
          <p:cNvPr id="32" name="Picture 31">
            <a:extLst>
              <a:ext uri="{FF2B5EF4-FFF2-40B4-BE49-F238E27FC236}">
                <a16:creationId xmlns:a16="http://schemas.microsoft.com/office/drawing/2014/main" id="{CC1CF09B-0A02-00B8-72BC-B6508B37C2CD}"/>
              </a:ext>
            </a:extLst>
          </p:cNvPr>
          <p:cNvPicPr>
            <a:picLocks noChangeAspect="1"/>
          </p:cNvPicPr>
          <p:nvPr/>
        </p:nvPicPr>
        <p:blipFill>
          <a:blip r:embed="rId5"/>
          <a:stretch>
            <a:fillRect/>
          </a:stretch>
        </p:blipFill>
        <p:spPr>
          <a:xfrm>
            <a:off x="308737" y="1654678"/>
            <a:ext cx="3905250" cy="1128708"/>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57200" y="197711"/>
            <a:ext cx="4135754" cy="1922145"/>
          </a:xfrm>
          <a:prstGeom prst="rect">
            <a:avLst/>
          </a:prstGeom>
        </p:spPr>
        <p:txBody>
          <a:bodyPr vert="horz" wrap="square" lIns="0" tIns="12065" rIns="0" bIns="0" rtlCol="0">
            <a:spAutoFit/>
          </a:bodyPr>
          <a:lstStyle/>
          <a:p>
            <a:pPr marL="50800" rtl="1">
              <a:lnSpc>
                <a:spcPct val="100000"/>
              </a:lnSpc>
              <a:spcBef>
                <a:spcPts val="95"/>
              </a:spcBef>
            </a:pPr>
            <a:endParaRPr sz="1200" dirty="0">
              <a:latin typeface="Arial"/>
              <a:cs typeface="Arial"/>
            </a:endParaRPr>
            <a:r>
              <a:rPr lang="ar-SA" altLang="en-US" sz="1200">
                <a:latin typeface="Arial"/>
              </a:rPr>
              <a:t>آليات الأمان</a:t>
            </a:r>
          </a:p>
          <a:p>
            <a:pPr marL="302260" rtl="1">
              <a:lnSpc>
                <a:spcPct val="100000"/>
              </a:lnSpc>
              <a:spcBef>
                <a:spcPts val="1055"/>
              </a:spcBef>
            </a:pPr>
            <a:endParaRPr sz="1000" dirty="0">
              <a:latin typeface="Arial"/>
              <a:cs typeface="Arial"/>
            </a:endParaRPr>
            <a:r>
              <a:rPr lang="ar-SA" altLang="en-US" sz="1000">
                <a:latin typeface="Arial"/>
              </a:rPr>
              <a:t>التجزئة الآمنة</a:t>
            </a:r>
          </a:p>
          <a:p>
            <a:pPr marL="302260" marR="164465" rtl="1">
              <a:lnSpc>
                <a:spcPct val="111600"/>
              </a:lnSpc>
              <a:spcBef>
                <a:spcPts val="185"/>
              </a:spcBef>
            </a:pPr>
            <a:endParaRPr sz="900" dirty="0">
              <a:latin typeface="Arial"/>
              <a:cs typeface="Arial"/>
            </a:endParaRPr>
            <a:r>
              <a:rPr lang="ar-SA" altLang="en-US" sz="900">
                <a:latin typeface="Arial"/>
              </a:rPr>
              <a:t>عمليًا، نستخدم دوال تجزئة آمنة: تُعيد H(data) سلسلة ذات طول ثابت.</a:t>
            </a:r>
          </a:p>
          <a:p>
            <a:pPr marL="555625" indent="-120650" rtl="1">
              <a:lnSpc>
                <a:spcPts val="1005"/>
              </a:lnSpc>
              <a:buFont typeface="Menlo"/>
              <a:buChar char="•"/>
              <a:tabLst>
                <a:tab pos="556260" algn="l"/>
              </a:tabLst>
            </a:pPr>
            <a:endParaRPr sz="900" dirty="0">
              <a:latin typeface="Arial"/>
              <a:cs typeface="Arial"/>
            </a:endParaRPr>
            <a:r>
              <a:rPr lang="ar-SA" altLang="en-US" sz="900">
                <a:latin typeface="Arial"/>
              </a:rPr>
              <a:t>أي تغيير من data إلى data∗ يؤدي إلى سلسلة مختلفة تمامًا</a:t>
            </a:r>
          </a:p>
          <a:p>
            <a:pPr marL="555625">
              <a:lnSpc>
                <a:spcPct val="100000"/>
              </a:lnSpc>
              <a:spcBef>
                <a:spcPts val="125"/>
              </a:spcBef>
            </a:pPr>
            <a:r>
              <a:rPr sz="900" i="1" spc="-10" dirty="0">
                <a:latin typeface="Arial"/>
                <a:cs typeface="Arial"/>
              </a:rPr>
              <a:t>H</a:t>
            </a:r>
            <a:r>
              <a:rPr sz="900" spc="-10" dirty="0">
                <a:latin typeface="Arial"/>
                <a:cs typeface="Arial"/>
              </a:rPr>
              <a:t>(</a:t>
            </a:r>
            <a:r>
              <a:rPr sz="900" i="1" spc="-10" dirty="0">
                <a:latin typeface="Arial"/>
                <a:cs typeface="Arial"/>
              </a:rPr>
              <a:t>data</a:t>
            </a:r>
            <a:r>
              <a:rPr sz="1050" i="1" spc="-15" baseline="27777" dirty="0">
                <a:latin typeface="Menlo"/>
                <a:cs typeface="Menlo"/>
              </a:rPr>
              <a:t>∗</a:t>
            </a:r>
            <a:r>
              <a:rPr lang="en-US" sz="900" spc="-10" dirty="0">
                <a:latin typeface="Arial"/>
                <a:cs typeface="Arial"/>
              </a:rPr>
              <a:t>)</a:t>
            </a:r>
            <a:r>
              <a:rPr sz="900" spc="-10" dirty="0">
                <a:latin typeface="Arial"/>
                <a:cs typeface="Arial"/>
              </a:rPr>
              <a:t>.</a:t>
            </a:r>
            <a:endParaRPr sz="900" dirty="0">
              <a:latin typeface="Arial"/>
              <a:cs typeface="Arial"/>
            </a:endParaRPr>
          </a:p>
          <a:p>
            <a:pPr marL="555625" indent="-120650" rtl="1">
              <a:lnSpc>
                <a:spcPct val="100000"/>
              </a:lnSpc>
              <a:spcBef>
                <a:spcPts val="125"/>
              </a:spcBef>
              <a:buClr>
                <a:srgbClr val="3333B2"/>
              </a:buClr>
              <a:buFont typeface="Menlo"/>
              <a:buChar char="•"/>
              <a:tabLst>
                <a:tab pos="556260" algn="l"/>
              </a:tabLst>
            </a:pPr>
            <a:endParaRPr sz="900" dirty="0">
              <a:latin typeface="Arial"/>
              <a:cs typeface="Arial"/>
            </a:endParaRPr>
            <a:r>
              <a:rPr lang="ar-SA" altLang="en-US" sz="900">
                <a:latin typeface="Arial"/>
              </a:rPr>
              <a:t>من المستحيل حسابيًا إيجاد بيانات لقيمة تجزئة معطاة بحيث</a:t>
            </a:r>
          </a:p>
          <a:p>
            <a:pPr marL="555625">
              <a:lnSpc>
                <a:spcPct val="100000"/>
              </a:lnSpc>
              <a:spcBef>
                <a:spcPts val="125"/>
              </a:spcBef>
            </a:pPr>
            <a:r>
              <a:rPr sz="900" i="1" dirty="0">
                <a:latin typeface="Arial"/>
                <a:cs typeface="Arial"/>
              </a:rPr>
              <a:t>h</a:t>
            </a:r>
            <a:r>
              <a:rPr sz="900" i="1" spc="-45" dirty="0">
                <a:latin typeface="Arial"/>
                <a:cs typeface="Arial"/>
              </a:rPr>
              <a:t> </a:t>
            </a:r>
            <a:r>
              <a:rPr sz="900" spc="185" dirty="0">
                <a:latin typeface="Arial"/>
                <a:cs typeface="Arial"/>
              </a:rPr>
              <a:t>=</a:t>
            </a:r>
            <a:r>
              <a:rPr sz="900" spc="-55" dirty="0">
                <a:latin typeface="Arial"/>
                <a:cs typeface="Arial"/>
              </a:rPr>
              <a:t> </a:t>
            </a:r>
            <a:r>
              <a:rPr sz="900" i="1" spc="-10" dirty="0">
                <a:latin typeface="Arial"/>
                <a:cs typeface="Arial"/>
              </a:rPr>
              <a:t>H</a:t>
            </a:r>
            <a:r>
              <a:rPr sz="900" spc="-10" dirty="0">
                <a:latin typeface="Arial"/>
                <a:cs typeface="Arial"/>
              </a:rPr>
              <a:t>(</a:t>
            </a:r>
            <a:r>
              <a:rPr sz="900" i="1" spc="-10" dirty="0">
                <a:latin typeface="Arial"/>
                <a:cs typeface="Arial"/>
              </a:rPr>
              <a:t>data</a:t>
            </a:r>
            <a:r>
              <a:rPr lang="en-US" sz="900" spc="-10" dirty="0">
                <a:latin typeface="Arial"/>
                <a:cs typeface="Arial"/>
              </a:rPr>
              <a:t>)</a:t>
            </a:r>
            <a:endParaRPr sz="900" dirty="0">
              <a:latin typeface="Arial"/>
              <a:cs typeface="Arial"/>
            </a:endParaRPr>
          </a:p>
          <a:p>
            <a:pPr>
              <a:lnSpc>
                <a:spcPct val="100000"/>
              </a:lnSpc>
            </a:pPr>
            <a:endParaRPr sz="1250" dirty="0">
              <a:latin typeface="Arial"/>
              <a:cs typeface="Arial"/>
            </a:endParaRPr>
          </a:p>
          <a:p>
            <a:pPr marL="302260" rtl="1">
              <a:lnSpc>
                <a:spcPct val="100000"/>
              </a:lnSpc>
            </a:pPr>
            <a:endParaRPr sz="1000" dirty="0">
              <a:latin typeface="Arial"/>
              <a:cs typeface="Arial"/>
            </a:endParaRPr>
            <a:r>
              <a:rPr lang="ar-SA" altLang="en-US" sz="1000">
                <a:latin typeface="Arial"/>
              </a:rPr>
              <a:t>التوقيعات الرقمية العملية</a:t>
            </a:r>
          </a:p>
          <a:p>
            <a:pPr marL="302260" rtl="1">
              <a:lnSpc>
                <a:spcPct val="100000"/>
              </a:lnSpc>
              <a:spcBef>
                <a:spcPts val="310"/>
              </a:spcBef>
            </a:pPr>
            <a:endParaRPr sz="900" dirty="0">
              <a:latin typeface="Arial"/>
              <a:cs typeface="Arial"/>
            </a:endParaRPr>
            <a:r>
              <a:rPr lang="ar-SA" altLang="en-US" sz="900">
                <a:latin typeface="Arial"/>
              </a:rPr>
              <a:t>توقيع رسالة لـ Bob من قِبَل Alice:</a:t>
            </a:r>
          </a:p>
        </p:txBody>
      </p:sp>
      <p:grpSp>
        <p:nvGrpSpPr>
          <p:cNvPr id="21" name="object 21"/>
          <p:cNvGrpSpPr/>
          <p:nvPr/>
        </p:nvGrpSpPr>
        <p:grpSpPr>
          <a:xfrm>
            <a:off x="0" y="3348469"/>
            <a:ext cx="4608195" cy="107950"/>
            <a:chOff x="0" y="3348469"/>
            <a:chExt cx="4608195" cy="107950"/>
          </a:xfrm>
        </p:grpSpPr>
        <p:sp>
          <p:nvSpPr>
            <p:cNvPr id="22" name="object 2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3" name="object 2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4" name="object 24"/>
          <p:cNvSpPr txBox="1"/>
          <p:nvPr/>
        </p:nvSpPr>
        <p:spPr>
          <a:xfrm>
            <a:off x="53467" y="3349927"/>
            <a:ext cx="25527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الأمان</a:t>
            </a:r>
          </a:p>
        </p:txBody>
      </p:sp>
      <p:pic>
        <p:nvPicPr>
          <p:cNvPr id="25" name="Picture 24">
            <a:extLst>
              <a:ext uri="{FF2B5EF4-FFF2-40B4-BE49-F238E27FC236}">
                <a16:creationId xmlns:a16="http://schemas.microsoft.com/office/drawing/2014/main" id="{CA3CEBDC-E66C-A32D-A356-207991441AB4}"/>
              </a:ext>
            </a:extLst>
          </p:cNvPr>
          <p:cNvPicPr>
            <a:picLocks noChangeAspect="1"/>
          </p:cNvPicPr>
          <p:nvPr/>
        </p:nvPicPr>
        <p:blipFill>
          <a:blip r:embed="rId5"/>
          <a:stretch>
            <a:fillRect/>
          </a:stretch>
        </p:blipFill>
        <p:spPr>
          <a:xfrm>
            <a:off x="574975" y="2209617"/>
            <a:ext cx="3588504" cy="479210"/>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57200" y="197711"/>
            <a:ext cx="4201795" cy="2473325"/>
          </a:xfrm>
          <a:prstGeom prst="rect">
            <a:avLst/>
          </a:prstGeom>
        </p:spPr>
        <p:txBody>
          <a:bodyPr vert="horz" wrap="square" lIns="0" tIns="12065" rIns="0" bIns="0" rtlCol="0">
            <a:spAutoFit/>
          </a:bodyPr>
          <a:lstStyle/>
          <a:p>
            <a:pPr marL="50800" rtl="1">
              <a:lnSpc>
                <a:spcPct val="100000"/>
              </a:lnSpc>
              <a:spcBef>
                <a:spcPts val="95"/>
              </a:spcBef>
            </a:pPr>
            <a:endParaRPr sz="1200">
              <a:latin typeface="Arial"/>
              <a:cs typeface="Arial"/>
            </a:endParaRPr>
            <a:r>
              <a:rPr lang="ar-SA" altLang="en-US" sz="1200">
                <a:latin typeface="Arial"/>
              </a:rPr>
              <a:t>القياسية في الأنظمة الموزعة</a:t>
            </a:r>
          </a:p>
          <a:p>
            <a:pPr marL="302260" rtl="1">
              <a:lnSpc>
                <a:spcPct val="100000"/>
              </a:lnSpc>
              <a:spcBef>
                <a:spcPts val="1055"/>
              </a:spcBef>
            </a:pPr>
            <a:endParaRPr sz="1000">
              <a:latin typeface="Arial"/>
              <a:cs typeface="Arial"/>
            </a:endParaRPr>
            <a:r>
              <a:rPr lang="ar-SA" altLang="en-US" sz="1000">
                <a:latin typeface="Arial"/>
              </a:rPr>
              <a:t>ملاحظة</a:t>
            </a:r>
          </a:p>
          <a:p>
            <a:pPr marL="290830" marR="273050" indent="10795" rtl="1">
              <a:lnSpc>
                <a:spcPts val="1210"/>
              </a:lnSpc>
              <a:spcBef>
                <a:spcPts val="40"/>
              </a:spcBef>
            </a:pPr>
            <a:endParaRPr sz="900">
              <a:latin typeface="Arial"/>
              <a:cs typeface="Arial"/>
            </a:endParaRPr>
            <a:r>
              <a:rPr lang="ar-SA" altLang="en-US" sz="900">
                <a:latin typeface="Arial"/>
              </a:rPr>
              <a:t>كثير من مطوري الأنظمة الموزعة الحديثة يستخدمون صفة "قابل للتوسع" بسهولة دون توضيح سبب قابلية نظامهم للتوسع فعلًا.</a:t>
            </a:r>
          </a:p>
          <a:p>
            <a:pPr marL="298450" rtl="1">
              <a:lnSpc>
                <a:spcPct val="100000"/>
              </a:lnSpc>
              <a:spcBef>
                <a:spcPts val="745"/>
              </a:spcBef>
            </a:pPr>
            <a:endParaRPr sz="1000">
              <a:latin typeface="Arial"/>
              <a:cs typeface="Arial"/>
            </a:endParaRPr>
            <a:r>
              <a:rPr lang="ar-SA" altLang="en-US" sz="1000">
                <a:latin typeface="Arial"/>
              </a:rPr>
              <a:t>ثلاثة مكوّنات على الأقل</a:t>
            </a:r>
          </a:p>
          <a:p>
            <a:pPr marL="555625" indent="-120650" rtl="1">
              <a:lnSpc>
                <a:spcPct val="100000"/>
              </a:lnSpc>
              <a:spcBef>
                <a:spcPts val="695"/>
              </a:spcBef>
              <a:buClr>
                <a:srgbClr val="3333B2"/>
              </a:buClr>
              <a:buFont typeface="Menlo"/>
              <a:buChar char="•"/>
              <a:tabLst>
                <a:tab pos="556260" algn="l"/>
              </a:tabLst>
            </a:pPr>
            <a:endParaRPr sz="900">
              <a:latin typeface="Arial"/>
              <a:cs typeface="Arial"/>
            </a:endParaRPr>
            <a:r>
              <a:rPr lang="ar-SA" altLang="en-US" sz="900">
                <a:latin typeface="Arial"/>
              </a:rPr>
              <a:t>عدد المستخدمين أو العمليات (قابلية التوسع من حيث الحجم)</a:t>
            </a:r>
          </a:p>
          <a:p>
            <a:pPr marL="555625" indent="-120650" rtl="1">
              <a:lnSpc>
                <a:spcPct val="100000"/>
              </a:lnSpc>
              <a:spcBef>
                <a:spcPts val="520"/>
              </a:spcBef>
              <a:buClr>
                <a:srgbClr val="3333B2"/>
              </a:buClr>
              <a:buFont typeface="Menlo"/>
              <a:buChar char="•"/>
              <a:tabLst>
                <a:tab pos="556260" algn="l"/>
              </a:tabLst>
            </a:pPr>
            <a:endParaRPr sz="900">
              <a:latin typeface="Arial"/>
              <a:cs typeface="Arial"/>
            </a:endParaRPr>
            <a:r>
              <a:rPr lang="ar-SA" altLang="en-US" sz="900">
                <a:latin typeface="Arial"/>
              </a:rPr>
              <a:t>أقصى مسافة بين العقد (قابلية التوسع الجغرافي)</a:t>
            </a:r>
          </a:p>
          <a:p>
            <a:pPr marL="555625" indent="-120650" rtl="1">
              <a:lnSpc>
                <a:spcPct val="100000"/>
              </a:lnSpc>
              <a:spcBef>
                <a:spcPts val="525"/>
              </a:spcBef>
              <a:buClr>
                <a:srgbClr val="3333B2"/>
              </a:buClr>
              <a:buFont typeface="Menlo"/>
              <a:buChar char="•"/>
              <a:tabLst>
                <a:tab pos="556260" algn="l"/>
              </a:tabLst>
            </a:pPr>
            <a:endParaRPr sz="900">
              <a:latin typeface="Arial"/>
              <a:cs typeface="Arial"/>
            </a:endParaRPr>
            <a:r>
              <a:rPr lang="ar-SA" altLang="en-US" sz="900">
                <a:latin typeface="Arial"/>
              </a:rPr>
              <a:t>عدد النطاقات الإدارية (قابلية التوسع الإداري)</a:t>
            </a:r>
          </a:p>
          <a:p>
            <a:pPr>
              <a:lnSpc>
                <a:spcPct val="100000"/>
              </a:lnSpc>
              <a:spcBef>
                <a:spcPts val="25"/>
              </a:spcBef>
            </a:pPr>
            <a:endParaRPr sz="1200">
              <a:latin typeface="Arial"/>
              <a:cs typeface="Arial"/>
            </a:endParaRPr>
          </a:p>
          <a:p>
            <a:pPr marL="302260" rtl="1">
              <a:lnSpc>
                <a:spcPct val="100000"/>
              </a:lnSpc>
            </a:pPr>
            <a:endParaRPr sz="1000">
              <a:latin typeface="Arial"/>
              <a:cs typeface="Arial"/>
            </a:endParaRPr>
            <a:r>
              <a:rPr lang="ar-SA" altLang="en-US" sz="1000">
                <a:latin typeface="Arial"/>
              </a:rPr>
              <a:t>ملاحظة</a:t>
            </a:r>
          </a:p>
          <a:p>
            <a:pPr marL="302260" marR="17780" rtl="1">
              <a:lnSpc>
                <a:spcPts val="1210"/>
              </a:lnSpc>
              <a:spcBef>
                <a:spcPts val="35"/>
              </a:spcBef>
            </a:pPr>
            <a:endParaRPr sz="900">
              <a:latin typeface="Arial"/>
              <a:cs typeface="Arial"/>
            </a:endParaRPr>
            <a:r>
              <a:rPr lang="ar-SA" altLang="en-US" sz="900">
                <a:latin typeface="Arial"/>
              </a:rPr>
              <a:t>معظم الأنظمة لا تراعي، إلى حد ما، إلا قابلية التوسع من حيث الحجم. والحل الشائع هو تشغيل خوادم قوية متعددة بشكل مستقل ومتوازٍ. واليوم، لا يزال التحدي قائمًا في قابلية التوسع الجغرافي والإداري.</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4122420" algn="l"/>
              </a:tabLst>
            </a:pPr>
            <a:endParaRPr sz="500">
              <a:latin typeface="Arial"/>
              <a:cs typeface="Arial"/>
            </a:endParaRPr>
            <a:r>
              <a:rPr lang="ar-SA" altLang="en-US" sz="500">
                <a:latin typeface="Arial"/>
              </a:rPr>
              <a:t>مقدمة	أهداف التصميم</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قابلية التوسع من حيث الحجم</a:t>
            </a:r>
          </a:p>
        </p:txBody>
      </p:sp>
      <p:sp>
        <p:nvSpPr>
          <p:cNvPr id="4" name="object 4"/>
          <p:cNvSpPr txBox="1"/>
          <p:nvPr/>
        </p:nvSpPr>
        <p:spPr>
          <a:xfrm>
            <a:off x="334594" y="514774"/>
            <a:ext cx="3938904" cy="810895"/>
          </a:xfrm>
          <a:prstGeom prst="rect">
            <a:avLst/>
          </a:prstGeom>
        </p:spPr>
        <p:txBody>
          <a:bodyPr vert="horz" wrap="square" lIns="0" tIns="12065" rIns="0" bIns="0" rtlCol="0">
            <a:spAutoFit/>
          </a:bodyPr>
          <a:lstStyle/>
          <a:p>
            <a:pPr marL="25400" rtl="1">
              <a:lnSpc>
                <a:spcPct val="100000"/>
              </a:lnSpc>
              <a:spcBef>
                <a:spcPts val="95"/>
              </a:spcBef>
            </a:pPr>
            <a:endParaRPr sz="1000">
              <a:latin typeface="Arial"/>
              <a:cs typeface="Arial"/>
            </a:endParaRPr>
            <a:r>
              <a:rPr lang="ar-SA" altLang="en-US" sz="1000">
                <a:latin typeface="Arial"/>
              </a:rPr>
              <a:t>الأسباب الجذرية لمشكلات قابلية التوسع في الحلول المركزية</a:t>
            </a:r>
          </a:p>
          <a:p>
            <a:pPr marL="274320" indent="-116839" rtl="1">
              <a:lnSpc>
                <a:spcPct val="100000"/>
              </a:lnSpc>
              <a:spcBef>
                <a:spcPts val="700"/>
              </a:spcBef>
              <a:buClr>
                <a:srgbClr val="3333B2"/>
              </a:buClr>
              <a:buFont typeface="Menlo"/>
              <a:buChar char="•"/>
              <a:tabLst>
                <a:tab pos="274955" algn="l"/>
              </a:tabLst>
            </a:pPr>
            <a:endParaRPr sz="900">
              <a:latin typeface="Arial"/>
              <a:cs typeface="Arial"/>
            </a:endParaRPr>
            <a:r>
              <a:rPr lang="ar-SA" altLang="en-US" sz="900">
                <a:latin typeface="Arial"/>
              </a:rPr>
              <a:t>الطاقة الحسابية، المحدودة بوحدات المعالجة المركزية</a:t>
            </a:r>
          </a:p>
          <a:p>
            <a:pPr marL="274320" indent="-116839" rtl="1">
              <a:lnSpc>
                <a:spcPct val="100000"/>
              </a:lnSpc>
              <a:spcBef>
                <a:spcPts val="525"/>
              </a:spcBef>
              <a:buClr>
                <a:srgbClr val="3333B2"/>
              </a:buClr>
              <a:buFont typeface="Menlo"/>
              <a:buChar char="•"/>
              <a:tabLst>
                <a:tab pos="274955" algn="l"/>
              </a:tabLst>
            </a:pPr>
            <a:endParaRPr sz="900">
              <a:latin typeface="Arial"/>
              <a:cs typeface="Arial"/>
            </a:endParaRPr>
            <a:r>
              <a:rPr lang="ar-SA" altLang="en-US" sz="900">
                <a:latin typeface="Arial"/>
              </a:rPr>
              <a:t>طاقة التخزين، بما في ذلك معدل النقل بين وحدات المعالجة المركزية والأقراص</a:t>
            </a:r>
          </a:p>
          <a:p>
            <a:pPr marL="274320" indent="-116839" rtl="1">
              <a:lnSpc>
                <a:spcPct val="100000"/>
              </a:lnSpc>
              <a:spcBef>
                <a:spcPts val="520"/>
              </a:spcBef>
              <a:buClr>
                <a:srgbClr val="3333B2"/>
              </a:buClr>
              <a:buFont typeface="Menlo"/>
              <a:buChar char="•"/>
              <a:tabLst>
                <a:tab pos="274955" algn="l"/>
              </a:tabLst>
            </a:pPr>
            <a:endParaRPr sz="900">
              <a:latin typeface="Arial"/>
              <a:cs typeface="Arial"/>
            </a:endParaRPr>
            <a:r>
              <a:rPr lang="ar-SA" altLang="en-US" sz="900">
                <a:latin typeface="Arial"/>
              </a:rPr>
              <a:t>الشبكة بين المستخدم والخدمة المركزية</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82600" y="197711"/>
            <a:ext cx="4219575" cy="1866264"/>
          </a:xfrm>
          <a:prstGeom prst="rect">
            <a:avLst/>
          </a:prstGeom>
        </p:spPr>
        <p:txBody>
          <a:bodyPr vert="horz" wrap="square" lIns="0" tIns="12065" rIns="0" bIns="0" rtlCol="0">
            <a:spAutoFit/>
          </a:bodyPr>
          <a:lstStyle/>
          <a:p>
            <a:pPr marL="25400" rtl="1">
              <a:lnSpc>
                <a:spcPct val="100000"/>
              </a:lnSpc>
              <a:spcBef>
                <a:spcPts val="95"/>
              </a:spcBef>
            </a:pPr>
            <a:endParaRPr sz="1200">
              <a:latin typeface="Arial"/>
              <a:cs typeface="Arial"/>
            </a:endParaRPr>
            <a:r>
              <a:rPr lang="ar-SA" altLang="en-US" sz="1200">
                <a:latin typeface="Arial"/>
              </a:rPr>
              <a:t>مشكلات قابلية التوسع الجغرافي</a:t>
            </a:r>
          </a:p>
          <a:p>
            <a:pPr>
              <a:lnSpc>
                <a:spcPct val="100000"/>
              </a:lnSpc>
            </a:pPr>
            <a:endParaRPr sz="1500">
              <a:latin typeface="Arial"/>
              <a:cs typeface="Arial"/>
            </a:endParaRPr>
          </a:p>
          <a:p>
            <a:pPr marL="530225" marR="45085" indent="-120650" rtl="1">
              <a:lnSpc>
                <a:spcPct val="111600"/>
              </a:lnSpc>
              <a:spcBef>
                <a:spcPts val="895"/>
              </a:spcBef>
              <a:buClr>
                <a:srgbClr val="3333B2"/>
              </a:buClr>
              <a:buFont typeface="Menlo"/>
              <a:buChar char="•"/>
              <a:tabLst>
                <a:tab pos="530860" algn="l"/>
              </a:tabLst>
            </a:pPr>
            <a:endParaRPr sz="900">
              <a:latin typeface="Arial"/>
              <a:cs typeface="Arial"/>
            </a:endParaRPr>
            <a:r>
              <a:rPr lang="ar-SA" altLang="en-US" sz="900">
                <a:latin typeface="Arial"/>
              </a:rPr>
              <a:t>لا يمكن الانتقال ببساطة من الشبكة المحلية (LAN) إلى الشبكة الواسعة (WAN): تفترض كثير من الأنظمة الموزعة تفاعلات متزامنة بين العميل والخادم، إذ يُرسل العميل طلبًا وينتظر ردًا. وقد تحول التأخيرات دون تطبيق هذا النهج.</a:t>
            </a:r>
          </a:p>
          <a:p>
            <a:pPr marL="530225" marR="45720" indent="-120650" rtl="1">
              <a:lnSpc>
                <a:spcPct val="111600"/>
              </a:lnSpc>
              <a:spcBef>
                <a:spcPts val="395"/>
              </a:spcBef>
              <a:buClr>
                <a:srgbClr val="3333B2"/>
              </a:buClr>
              <a:buFont typeface="Menlo"/>
              <a:buChar char="•"/>
              <a:tabLst>
                <a:tab pos="525145" algn="l"/>
              </a:tabLst>
            </a:pPr>
            <a:endParaRPr sz="900">
              <a:latin typeface="Arial"/>
              <a:cs typeface="Arial"/>
            </a:endParaRPr>
            <a:r>
              <a:rPr lang="ar-SA" altLang="en-US" sz="900">
                <a:latin typeface="Arial"/>
              </a:rPr>
              <a:t>روابط الشبكة الواسعة (WAN) غير موثوقة في الغالب بطبيعتها: مجرد نقل بث الفيديو من LAN إلى WAN محكوم عليه بالفشل.</a:t>
            </a:r>
          </a:p>
          <a:p>
            <a:pPr marL="530225" marR="43180" indent="-120650" rtl="1">
              <a:lnSpc>
                <a:spcPct val="111600"/>
              </a:lnSpc>
              <a:spcBef>
                <a:spcPts val="400"/>
              </a:spcBef>
              <a:buFont typeface="Menlo"/>
              <a:buChar char="•"/>
              <a:tabLst>
                <a:tab pos="530860" algn="l"/>
              </a:tabLst>
            </a:pPr>
            <a:endParaRPr sz="900">
              <a:latin typeface="Arial"/>
              <a:cs typeface="Arial"/>
            </a:endParaRPr>
            <a:r>
              <a:rPr lang="ar-SA" altLang="en-US" sz="900">
                <a:latin typeface="Arial"/>
              </a:rPr>
              <a:t>غياب الاتصال متعدد النقاط يجعل بث عمليات البحث البسيطة غير ممكن. والحل هو تطوير خدمات تسمية ودليل منفصلة (مع ما تحمله من مشكلات قابلية توسع خاصة بها).</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57200" y="197711"/>
            <a:ext cx="4220210" cy="2767330"/>
          </a:xfrm>
          <a:prstGeom prst="rect">
            <a:avLst/>
          </a:prstGeom>
        </p:spPr>
        <p:txBody>
          <a:bodyPr vert="horz" wrap="square" lIns="0" tIns="12065" rIns="0" bIns="0" rtlCol="0">
            <a:spAutoFit/>
          </a:bodyPr>
          <a:lstStyle/>
          <a:p>
            <a:pPr marL="50800" rtl="1">
              <a:lnSpc>
                <a:spcPct val="100000"/>
              </a:lnSpc>
              <a:spcBef>
                <a:spcPts val="95"/>
              </a:spcBef>
            </a:pPr>
            <a:endParaRPr sz="1200">
              <a:latin typeface="Arial"/>
              <a:cs typeface="Arial"/>
            </a:endParaRPr>
            <a:r>
              <a:rPr lang="ar-SA" altLang="en-US" sz="1200">
                <a:latin typeface="Arial"/>
              </a:rPr>
              <a:t>مشكلات قابلية التوسع الإداري</a:t>
            </a:r>
          </a:p>
          <a:p>
            <a:pPr marL="302260" rtl="1">
              <a:lnSpc>
                <a:spcPct val="100000"/>
              </a:lnSpc>
              <a:spcBef>
                <a:spcPts val="1055"/>
              </a:spcBef>
            </a:pPr>
            <a:endParaRPr sz="1000">
              <a:latin typeface="Arial"/>
              <a:cs typeface="Arial"/>
            </a:endParaRPr>
            <a:r>
              <a:rPr lang="ar-SA" altLang="en-US" sz="1000">
                <a:latin typeface="Arial"/>
              </a:rPr>
              <a:t>الجوهر</a:t>
            </a:r>
          </a:p>
          <a:p>
            <a:pPr marL="302260" marR="43180" rtl="1">
              <a:lnSpc>
                <a:spcPts val="1210"/>
              </a:lnSpc>
              <a:spcBef>
                <a:spcPts val="40"/>
              </a:spcBef>
            </a:pPr>
            <a:endParaRPr sz="900">
              <a:latin typeface="Arial"/>
              <a:cs typeface="Arial"/>
            </a:endParaRPr>
            <a:r>
              <a:rPr lang="ar-SA" altLang="en-US" sz="900">
                <a:latin typeface="Arial"/>
              </a:rPr>
              <a:t>تضارب السياسات المتعلقة بالاستخدام (وبالتالي الدفع)، والإدارة، والأمان</a:t>
            </a:r>
          </a:p>
          <a:p>
            <a:pPr marL="302260" rtl="1">
              <a:lnSpc>
                <a:spcPct val="100000"/>
              </a:lnSpc>
              <a:spcBef>
                <a:spcPts val="745"/>
              </a:spcBef>
            </a:pPr>
            <a:endParaRPr sz="1000">
              <a:latin typeface="Arial"/>
              <a:cs typeface="Arial"/>
            </a:endParaRPr>
            <a:r>
              <a:rPr lang="ar-SA" altLang="en-US" sz="1000">
                <a:latin typeface="Arial"/>
              </a:rPr>
              <a:t>أمثلة</a:t>
            </a:r>
          </a:p>
          <a:p>
            <a:pPr marL="555625" marR="317500" indent="-120650" rtl="1">
              <a:lnSpc>
                <a:spcPct val="111600"/>
              </a:lnSpc>
              <a:spcBef>
                <a:spcPts val="565"/>
              </a:spcBef>
              <a:buClr>
                <a:srgbClr val="3333B2"/>
              </a:buClr>
              <a:buFont typeface="Menlo"/>
              <a:buChar char="•"/>
              <a:tabLst>
                <a:tab pos="556260" algn="l"/>
              </a:tabLst>
            </a:pPr>
            <a:endParaRPr sz="900">
              <a:latin typeface="Arial"/>
              <a:cs typeface="Arial"/>
            </a:endParaRPr>
            <a:r>
              <a:rPr lang="ar-SA" altLang="en-US" sz="900">
                <a:latin typeface="Arial"/>
              </a:rPr>
              <a:t>الشبكات الحسابية: مشاركة الموارد المكلفة بين نطاقات مختلفة.</a:t>
            </a:r>
          </a:p>
          <a:p>
            <a:pPr marL="555625" marR="248285" indent="-120650" rtl="1">
              <a:lnSpc>
                <a:spcPct val="111600"/>
              </a:lnSpc>
              <a:spcBef>
                <a:spcPts val="300"/>
              </a:spcBef>
              <a:buClr>
                <a:srgbClr val="3333B2"/>
              </a:buClr>
              <a:buFont typeface="Menlo"/>
              <a:buChar char="•"/>
              <a:tabLst>
                <a:tab pos="556260" algn="l"/>
              </a:tabLst>
            </a:pPr>
            <a:endParaRPr sz="900">
              <a:latin typeface="Arial"/>
              <a:cs typeface="Arial"/>
            </a:endParaRPr>
            <a:r>
              <a:rPr lang="ar-SA" altLang="en-US" sz="900">
                <a:latin typeface="Arial"/>
              </a:rPr>
              <a:t>المعدات المشتركة: كيفية التحكم في تلسكوب راديوي مشترك وإدارته واستخدامه المبني كشبكة استشعار مشتركة واسعة النطاق؟</a:t>
            </a:r>
          </a:p>
          <a:p>
            <a:pPr>
              <a:lnSpc>
                <a:spcPct val="100000"/>
              </a:lnSpc>
              <a:spcBef>
                <a:spcPts val="30"/>
              </a:spcBef>
              <a:buClr>
                <a:srgbClr val="3333B2"/>
              </a:buClr>
              <a:buFont typeface="Menlo"/>
              <a:buChar char="•"/>
            </a:pPr>
            <a:endParaRPr sz="1200">
              <a:latin typeface="Arial"/>
              <a:cs typeface="Arial"/>
            </a:endParaRPr>
          </a:p>
          <a:p>
            <a:pPr marL="302260" rtl="1">
              <a:lnSpc>
                <a:spcPct val="100000"/>
              </a:lnSpc>
            </a:pPr>
            <a:endParaRPr sz="1000">
              <a:latin typeface="Arial"/>
              <a:cs typeface="Arial"/>
            </a:endParaRPr>
            <a:r>
              <a:rPr lang="ar-SA" altLang="en-US" sz="1000">
                <a:latin typeface="Arial"/>
              </a:rPr>
              <a:t>استثناء: بعض شبكات النظير إلى النظير</a:t>
            </a:r>
          </a:p>
          <a:p>
            <a:pPr marL="555625" indent="-120650" rtl="1">
              <a:lnSpc>
                <a:spcPct val="100000"/>
              </a:lnSpc>
              <a:spcBef>
                <a:spcPts val="695"/>
              </a:spcBef>
              <a:buClr>
                <a:srgbClr val="3333B2"/>
              </a:buClr>
              <a:buFont typeface="Menlo"/>
              <a:buChar char="•"/>
              <a:tabLst>
                <a:tab pos="556260" algn="l"/>
              </a:tabLst>
            </a:pPr>
            <a:endParaRPr sz="900">
              <a:latin typeface="Arial"/>
              <a:cs typeface="Arial"/>
            </a:endParaRPr>
            <a:r>
              <a:rPr lang="ar-SA" altLang="en-US" sz="900">
                <a:latin typeface="Arial"/>
              </a:rPr>
              <a:t>أنظمة مشاركة الملفات (القائمة مثلًا على BitTorrent)</a:t>
            </a:r>
          </a:p>
          <a:p>
            <a:pPr marL="555625" indent="-120650" rtl="1">
              <a:lnSpc>
                <a:spcPct val="100000"/>
              </a:lnSpc>
              <a:spcBef>
                <a:spcPts val="125"/>
              </a:spcBef>
              <a:buClr>
                <a:srgbClr val="3333B2"/>
              </a:buClr>
              <a:buFont typeface="Menlo"/>
              <a:buChar char="•"/>
              <a:tabLst>
                <a:tab pos="556260" algn="l"/>
              </a:tabLst>
            </a:pPr>
            <a:endParaRPr sz="900">
              <a:latin typeface="Arial"/>
              <a:cs typeface="Arial"/>
            </a:endParaRPr>
            <a:r>
              <a:rPr lang="ar-SA" altLang="en-US" sz="900">
                <a:latin typeface="Arial"/>
              </a:rPr>
              <a:t>الاتصال الهاتفي من نظير إلى نظير (إصدارات Skype المبكرة)</a:t>
            </a:r>
          </a:p>
          <a:p>
            <a:pPr marL="555625" indent="-120650" rtl="1">
              <a:lnSpc>
                <a:spcPts val="1045"/>
              </a:lnSpc>
              <a:spcBef>
                <a:spcPts val="125"/>
              </a:spcBef>
              <a:buClr>
                <a:srgbClr val="3333B2"/>
              </a:buClr>
              <a:buFont typeface="Menlo"/>
              <a:buChar char="•"/>
              <a:tabLst>
                <a:tab pos="556260" algn="l"/>
              </a:tabLst>
            </a:pPr>
            <a:endParaRPr sz="900">
              <a:latin typeface="Arial"/>
              <a:cs typeface="Arial"/>
            </a:endParaRPr>
            <a:r>
              <a:rPr lang="ar-SA" altLang="en-US" sz="900">
                <a:latin typeface="Arial"/>
              </a:rPr>
              <a:t>بث الصوت بمساعدة الأقران (Spotify)</a:t>
            </a:r>
          </a:p>
          <a:p>
            <a:pPr marL="302260" rtl="1">
              <a:lnSpc>
                <a:spcPts val="1045"/>
              </a:lnSpc>
            </a:pPr>
            <a:endParaRPr sz="900">
              <a:latin typeface="Arial"/>
              <a:cs typeface="Arial"/>
            </a:endParaRPr>
            <a:r>
              <a:rPr lang="ar-SA" altLang="en-US" sz="900">
                <a:latin typeface="Arial"/>
              </a:rPr>
              <a:t>ملاحظة: المستخدمون النهائيون هم من يتعاون، وليس الكيانات الإدارية.</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69900" y="197711"/>
            <a:ext cx="2875915" cy="1102995"/>
          </a:xfrm>
          <a:prstGeom prst="rect">
            <a:avLst/>
          </a:prstGeom>
        </p:spPr>
        <p:txBody>
          <a:bodyPr vert="horz" wrap="square" lIns="0" tIns="12065" rIns="0" bIns="0" rtlCol="0">
            <a:spAutoFit/>
          </a:bodyPr>
          <a:lstStyle/>
          <a:p>
            <a:pPr marL="38100" rtl="1">
              <a:lnSpc>
                <a:spcPct val="100000"/>
              </a:lnSpc>
              <a:spcBef>
                <a:spcPts val="95"/>
              </a:spcBef>
            </a:pPr>
            <a:endParaRPr sz="1200">
              <a:latin typeface="Arial"/>
              <a:cs typeface="Arial"/>
            </a:endParaRPr>
            <a:r>
              <a:rPr lang="ar-SA" altLang="en-US" sz="1200">
                <a:latin typeface="Arial"/>
              </a:rPr>
              <a:t>تقنيات التوسع</a:t>
            </a:r>
          </a:p>
          <a:p>
            <a:pPr marL="289560" rtl="1">
              <a:lnSpc>
                <a:spcPct val="100000"/>
              </a:lnSpc>
              <a:spcBef>
                <a:spcPts val="1055"/>
              </a:spcBef>
            </a:pPr>
            <a:endParaRPr sz="1000">
              <a:latin typeface="Arial"/>
              <a:cs typeface="Arial"/>
            </a:endParaRPr>
            <a:r>
              <a:rPr lang="ar-SA" altLang="en-US" sz="1000">
                <a:latin typeface="Arial"/>
              </a:rPr>
              <a:t>إخفاء تأخيرات الاتصال</a:t>
            </a:r>
          </a:p>
          <a:p>
            <a:pPr marL="542925" indent="-120650" rtl="1">
              <a:lnSpc>
                <a:spcPct val="100000"/>
              </a:lnSpc>
              <a:spcBef>
                <a:spcPts val="505"/>
              </a:spcBef>
              <a:buClr>
                <a:srgbClr val="3333B2"/>
              </a:buClr>
              <a:buFont typeface="Menlo"/>
              <a:buChar char="•"/>
              <a:tabLst>
                <a:tab pos="543560" algn="l"/>
              </a:tabLst>
            </a:pPr>
            <a:endParaRPr sz="900">
              <a:latin typeface="Arial"/>
              <a:cs typeface="Arial"/>
            </a:endParaRPr>
            <a:r>
              <a:rPr lang="ar-SA" altLang="en-US" sz="900">
                <a:latin typeface="Arial"/>
              </a:rPr>
              <a:t>الاستفادة من الاتصال غير المتزامن</a:t>
            </a:r>
          </a:p>
          <a:p>
            <a:pPr marL="542925" indent="-120650" rtl="1">
              <a:lnSpc>
                <a:spcPct val="100000"/>
              </a:lnSpc>
              <a:spcBef>
                <a:spcPts val="525"/>
              </a:spcBef>
              <a:buClr>
                <a:srgbClr val="3333B2"/>
              </a:buClr>
              <a:buFont typeface="Menlo"/>
              <a:buChar char="•"/>
              <a:tabLst>
                <a:tab pos="543560" algn="l"/>
              </a:tabLst>
            </a:pPr>
            <a:endParaRPr sz="900">
              <a:latin typeface="Arial"/>
              <a:cs typeface="Arial"/>
            </a:endParaRPr>
            <a:r>
              <a:rPr lang="ar-SA" altLang="en-US" sz="900">
                <a:latin typeface="Arial"/>
              </a:rPr>
              <a:t>استخدام معالج منفصل للاستجابات الواردة</a:t>
            </a:r>
          </a:p>
          <a:p>
            <a:pPr marL="542925" indent="-120650" rtl="1">
              <a:lnSpc>
                <a:spcPct val="100000"/>
              </a:lnSpc>
              <a:spcBef>
                <a:spcPts val="520"/>
              </a:spcBef>
              <a:buFont typeface="Menlo"/>
              <a:buChar char="•"/>
              <a:tabLst>
                <a:tab pos="543560" algn="l"/>
              </a:tabLst>
            </a:pPr>
            <a:endParaRPr sz="900">
              <a:latin typeface="Arial"/>
              <a:cs typeface="Arial"/>
            </a:endParaRPr>
            <a:r>
              <a:rPr lang="ar-SA" altLang="en-US" sz="900">
                <a:latin typeface="Arial"/>
              </a:rPr>
              <a:t>المشكلة: لا تتوافق كل التطبيقات مع هذا النموذج</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95300" y="197711"/>
            <a:ext cx="3114675" cy="46926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تقنيات التوسع</a:t>
            </a:r>
          </a:p>
          <a:p>
            <a:pPr marL="264160" rtl="1">
              <a:lnSpc>
                <a:spcPct val="100000"/>
              </a:lnSpc>
              <a:spcBef>
                <a:spcPts val="855"/>
              </a:spcBef>
            </a:pPr>
            <a:endParaRPr sz="1000">
              <a:latin typeface="Arial"/>
              <a:cs typeface="Arial"/>
            </a:endParaRPr>
            <a:r>
              <a:rPr lang="ar-SA" altLang="en-US" sz="1000">
                <a:latin typeface="Arial"/>
              </a:rPr>
              <a:t>تيسير الحل بنقل العمليات الحسابية إلى العميل</a:t>
            </a:r>
          </a:p>
        </p:txBody>
      </p:sp>
      <p:pic>
        <p:nvPicPr>
          <p:cNvPr id="6" name="object 6"/>
          <p:cNvPicPr/>
          <p:nvPr/>
        </p:nvPicPr>
        <p:blipFill>
          <a:blip r:embed="rId4" cstate="print"/>
          <a:stretch>
            <a:fillRect/>
          </a:stretch>
        </p:blipFill>
        <p:spPr>
          <a:xfrm>
            <a:off x="359994" y="929127"/>
            <a:ext cx="3896278" cy="869000"/>
          </a:xfrm>
          <a:prstGeom prst="rect">
            <a:avLst/>
          </a:prstGeom>
        </p:spPr>
      </p:pic>
      <p:pic>
        <p:nvPicPr>
          <p:cNvPr id="7" name="object 7"/>
          <p:cNvPicPr/>
          <p:nvPr/>
        </p:nvPicPr>
        <p:blipFill>
          <a:blip r:embed="rId5" cstate="print"/>
          <a:stretch>
            <a:fillRect/>
          </a:stretch>
        </p:blipFill>
        <p:spPr>
          <a:xfrm>
            <a:off x="359994" y="1975288"/>
            <a:ext cx="3888364" cy="897569"/>
          </a:xfrm>
          <a:prstGeom prst="rect">
            <a:avLst/>
          </a:prstGeom>
        </p:spPr>
      </p:pic>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69900" y="197711"/>
            <a:ext cx="3561715" cy="1127125"/>
          </a:xfrm>
          <a:prstGeom prst="rect">
            <a:avLst/>
          </a:prstGeom>
        </p:spPr>
        <p:txBody>
          <a:bodyPr vert="horz" wrap="square" lIns="0" tIns="12065" rIns="0" bIns="0" rtlCol="0">
            <a:spAutoFit/>
          </a:bodyPr>
          <a:lstStyle/>
          <a:p>
            <a:pPr marL="38100" rtl="1">
              <a:lnSpc>
                <a:spcPct val="100000"/>
              </a:lnSpc>
              <a:spcBef>
                <a:spcPts val="95"/>
              </a:spcBef>
            </a:pPr>
            <a:endParaRPr sz="1200">
              <a:latin typeface="Arial"/>
              <a:cs typeface="Arial"/>
            </a:endParaRPr>
            <a:r>
              <a:rPr lang="ar-SA" altLang="en-US" sz="1200">
                <a:latin typeface="Arial"/>
              </a:rPr>
              <a:t>تقنيات التوسع</a:t>
            </a:r>
          </a:p>
          <a:p>
            <a:pPr marL="289560" rtl="1">
              <a:lnSpc>
                <a:spcPct val="100000"/>
              </a:lnSpc>
              <a:spcBef>
                <a:spcPts val="1055"/>
              </a:spcBef>
            </a:pPr>
            <a:endParaRPr sz="1000">
              <a:latin typeface="Arial"/>
              <a:cs typeface="Arial"/>
            </a:endParaRPr>
            <a:r>
              <a:rPr lang="ar-SA" altLang="en-US" sz="1000">
                <a:latin typeface="Arial"/>
              </a:rPr>
              <a:t>توزيع البيانات والعمليات الحسابية عبر آلات متعددة</a:t>
            </a:r>
          </a:p>
          <a:p>
            <a:pPr marL="542925" indent="-120650" rtl="1">
              <a:lnSpc>
                <a:spcPct val="100000"/>
              </a:lnSpc>
              <a:spcBef>
                <a:spcPts val="695"/>
              </a:spcBef>
              <a:buClr>
                <a:srgbClr val="3333B2"/>
              </a:buClr>
              <a:buFont typeface="Menlo"/>
              <a:buChar char="•"/>
              <a:tabLst>
                <a:tab pos="543560" algn="l"/>
              </a:tabLst>
            </a:pPr>
            <a:endParaRPr sz="900">
              <a:latin typeface="Arial"/>
              <a:cs typeface="Arial"/>
            </a:endParaRPr>
            <a:r>
              <a:rPr lang="ar-SA" altLang="en-US" sz="900">
                <a:latin typeface="Arial"/>
              </a:rPr>
              <a:t>نقل العمليات الحسابية إلى العملاء (تطبيقات Java وسكريبتات)</a:t>
            </a:r>
          </a:p>
          <a:p>
            <a:pPr marL="542925" indent="-120650" rtl="1">
              <a:lnSpc>
                <a:spcPct val="100000"/>
              </a:lnSpc>
              <a:spcBef>
                <a:spcPts val="525"/>
              </a:spcBef>
              <a:buClr>
                <a:srgbClr val="3333B2"/>
              </a:buClr>
              <a:buFont typeface="Menlo"/>
              <a:buChar char="•"/>
              <a:tabLst>
                <a:tab pos="543560" algn="l"/>
              </a:tabLst>
            </a:pPr>
            <a:endParaRPr sz="900">
              <a:latin typeface="Arial"/>
              <a:cs typeface="Arial"/>
            </a:endParaRPr>
            <a:r>
              <a:rPr lang="ar-SA" altLang="en-US" sz="900">
                <a:latin typeface="Arial"/>
              </a:rPr>
              <a:t>خدمات التسمية اللامركزية (DNS)</a:t>
            </a:r>
          </a:p>
          <a:p>
            <a:pPr marL="542925" indent="-120650" rtl="1">
              <a:lnSpc>
                <a:spcPct val="100000"/>
              </a:lnSpc>
              <a:spcBef>
                <a:spcPts val="525"/>
              </a:spcBef>
              <a:buClr>
                <a:srgbClr val="3333B2"/>
              </a:buClr>
              <a:buFont typeface="Menlo"/>
              <a:buChar char="•"/>
              <a:tabLst>
                <a:tab pos="543560" algn="l"/>
              </a:tabLst>
            </a:pPr>
            <a:endParaRPr sz="900">
              <a:latin typeface="Arial"/>
              <a:cs typeface="Arial"/>
            </a:endParaRPr>
            <a:r>
              <a:rPr lang="ar-SA" altLang="en-US" sz="900">
                <a:latin typeface="Arial"/>
              </a:rPr>
              <a:t>أنظمة المعلومات اللامركزية (الشبكة العالمية WWW)</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69900" y="197711"/>
            <a:ext cx="4035425" cy="1439545"/>
          </a:xfrm>
          <a:prstGeom prst="rect">
            <a:avLst/>
          </a:prstGeom>
        </p:spPr>
        <p:txBody>
          <a:bodyPr vert="horz" wrap="square" lIns="0" tIns="12065" rIns="0" bIns="0" rtlCol="0">
            <a:spAutoFit/>
          </a:bodyPr>
          <a:lstStyle/>
          <a:p>
            <a:pPr marL="38100" rtl="1">
              <a:lnSpc>
                <a:spcPct val="100000"/>
              </a:lnSpc>
              <a:spcBef>
                <a:spcPts val="95"/>
              </a:spcBef>
            </a:pPr>
            <a:endParaRPr sz="1200">
              <a:latin typeface="Arial"/>
              <a:cs typeface="Arial"/>
            </a:endParaRPr>
            <a:r>
              <a:rPr lang="ar-SA" altLang="en-US" sz="1200">
                <a:latin typeface="Arial"/>
              </a:rPr>
              <a:t>تقنيات التوسع</a:t>
            </a:r>
          </a:p>
          <a:p>
            <a:pPr marL="289560" marR="30480" rtl="1">
              <a:lnSpc>
                <a:spcPct val="109600"/>
              </a:lnSpc>
              <a:spcBef>
                <a:spcPts val="675"/>
              </a:spcBef>
            </a:pPr>
            <a:endParaRPr sz="1000">
              <a:latin typeface="Arial"/>
              <a:cs typeface="Arial"/>
            </a:endParaRPr>
            <a:r>
              <a:rPr lang="ar-SA" altLang="en-US" sz="1000">
                <a:latin typeface="Arial"/>
              </a:rPr>
              <a:t>النسخ المتطابق والتخزين المؤقت: توفير نسخ من البيانات على آلات مختلفة</a:t>
            </a:r>
          </a:p>
          <a:p>
            <a:pPr marL="542925" indent="-120650" rtl="1">
              <a:lnSpc>
                <a:spcPct val="100000"/>
              </a:lnSpc>
              <a:spcBef>
                <a:spcPts val="500"/>
              </a:spcBef>
              <a:buClr>
                <a:srgbClr val="3333B2"/>
              </a:buClr>
              <a:buFont typeface="Menlo"/>
              <a:buChar char="•"/>
              <a:tabLst>
                <a:tab pos="543560" algn="l"/>
              </a:tabLst>
            </a:pPr>
            <a:endParaRPr sz="900">
              <a:latin typeface="Arial"/>
              <a:cs typeface="Arial"/>
            </a:endParaRPr>
            <a:r>
              <a:rPr lang="ar-SA" altLang="en-US" sz="900">
                <a:latin typeface="Arial"/>
              </a:rPr>
              <a:t>خوادم ملفات وقواعد بيانات منسوخة</a:t>
            </a:r>
          </a:p>
          <a:p>
            <a:pPr marL="542925" indent="-120650" rtl="1">
              <a:lnSpc>
                <a:spcPct val="100000"/>
              </a:lnSpc>
              <a:spcBef>
                <a:spcPts val="525"/>
              </a:spcBef>
              <a:buClr>
                <a:srgbClr val="3333B2"/>
              </a:buClr>
              <a:buFont typeface="Menlo"/>
              <a:buChar char="•"/>
              <a:tabLst>
                <a:tab pos="543560" algn="l"/>
              </a:tabLst>
            </a:pPr>
            <a:endParaRPr sz="900">
              <a:latin typeface="Arial"/>
              <a:cs typeface="Arial"/>
            </a:endParaRPr>
            <a:r>
              <a:rPr lang="ar-SA" altLang="en-US" sz="900">
                <a:latin typeface="Arial"/>
              </a:rPr>
              <a:t>مواقع ويب مُعكوسة (Mirror)</a:t>
            </a:r>
          </a:p>
          <a:p>
            <a:pPr marL="537210" indent="-114935" rtl="1">
              <a:lnSpc>
                <a:spcPct val="100000"/>
              </a:lnSpc>
              <a:spcBef>
                <a:spcPts val="525"/>
              </a:spcBef>
              <a:buClr>
                <a:srgbClr val="3333B2"/>
              </a:buClr>
              <a:buFont typeface="Menlo"/>
              <a:buChar char="•"/>
              <a:tabLst>
                <a:tab pos="537845" algn="l"/>
              </a:tabLst>
            </a:pPr>
            <a:endParaRPr sz="900">
              <a:latin typeface="Arial"/>
              <a:cs typeface="Arial"/>
            </a:endParaRPr>
            <a:r>
              <a:rPr lang="ar-SA" altLang="en-US" sz="900">
                <a:latin typeface="Arial"/>
              </a:rPr>
              <a:t>ذاكرة تخزين ويب مؤقتة (في المتصفحات والوكلاء)</a:t>
            </a:r>
          </a:p>
          <a:p>
            <a:pPr marL="542925" indent="-120650" rtl="1">
              <a:lnSpc>
                <a:spcPct val="100000"/>
              </a:lnSpc>
              <a:spcBef>
                <a:spcPts val="520"/>
              </a:spcBef>
              <a:buClr>
                <a:srgbClr val="3333B2"/>
              </a:buClr>
              <a:buFont typeface="Menlo"/>
              <a:buChar char="•"/>
              <a:tabLst>
                <a:tab pos="543560" algn="l"/>
              </a:tabLst>
            </a:pPr>
            <a:endParaRPr sz="900">
              <a:latin typeface="Arial"/>
              <a:cs typeface="Arial"/>
            </a:endParaRPr>
            <a:r>
              <a:rPr lang="ar-SA" altLang="en-US" sz="900">
                <a:latin typeface="Arial"/>
              </a:rPr>
              <a:t>تخزين الملفات مؤقتًا (على الخادم والعميل)</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63479" y="-1515"/>
            <a:ext cx="391160"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أهداف التصميم</a:t>
            </a:r>
          </a:p>
        </p:txBody>
      </p:sp>
      <p:sp>
        <p:nvSpPr>
          <p:cNvPr id="5" name="object 5"/>
          <p:cNvSpPr txBox="1"/>
          <p:nvPr/>
        </p:nvSpPr>
        <p:spPr>
          <a:xfrm>
            <a:off x="57200" y="197711"/>
            <a:ext cx="4173220" cy="2070100"/>
          </a:xfrm>
          <a:prstGeom prst="rect">
            <a:avLst/>
          </a:prstGeom>
        </p:spPr>
        <p:txBody>
          <a:bodyPr vert="horz" wrap="square" lIns="0" tIns="12065" rIns="0" bIns="0" rtlCol="0">
            <a:spAutoFit/>
          </a:bodyPr>
          <a:lstStyle/>
          <a:p>
            <a:pPr marL="50800" rtl="1">
              <a:lnSpc>
                <a:spcPct val="100000"/>
              </a:lnSpc>
              <a:spcBef>
                <a:spcPts val="95"/>
              </a:spcBef>
            </a:pPr>
            <a:endParaRPr sz="1200">
              <a:latin typeface="Arial"/>
              <a:cs typeface="Arial"/>
            </a:endParaRPr>
            <a:r>
              <a:rPr lang="ar-SA" altLang="en-US" sz="1200">
                <a:latin typeface="Arial"/>
              </a:rPr>
              <a:t>التوسع: مشكلة النسخ المتطابق</a:t>
            </a:r>
          </a:p>
          <a:p>
            <a:pPr marL="298450" rtl="1">
              <a:lnSpc>
                <a:spcPct val="100000"/>
              </a:lnSpc>
              <a:spcBef>
                <a:spcPts val="1055"/>
              </a:spcBef>
            </a:pPr>
            <a:endParaRPr sz="1000">
              <a:latin typeface="Arial"/>
              <a:cs typeface="Arial"/>
            </a:endParaRPr>
            <a:r>
              <a:rPr lang="ar-SA" altLang="en-US" sz="1000">
                <a:latin typeface="Arial"/>
              </a:rPr>
              <a:t>تطبيق النسخ المتطابق أمر سهل، باستثناء مسألة واحدة</a:t>
            </a:r>
          </a:p>
          <a:p>
            <a:pPr marL="555625" marR="43180" indent="-120650" rtl="1">
              <a:lnSpc>
                <a:spcPct val="111600"/>
              </a:lnSpc>
              <a:spcBef>
                <a:spcPts val="585"/>
              </a:spcBef>
              <a:buClr>
                <a:srgbClr val="3333B2"/>
              </a:buClr>
              <a:buFont typeface="Menlo"/>
              <a:buChar char="•"/>
              <a:tabLst>
                <a:tab pos="556260" algn="l"/>
              </a:tabLst>
            </a:pPr>
            <a:endParaRPr sz="900">
              <a:latin typeface="Arial"/>
              <a:cs typeface="Arial"/>
            </a:endParaRPr>
            <a:r>
              <a:rPr lang="ar-SA" altLang="en-US" sz="900">
                <a:latin typeface="Arial"/>
              </a:rPr>
              <a:t>وجود نسخ متعددة (مخزنة مؤقتًا أو منسوخة) يفضي إلى عدم الاتساق: فتعديل نسخة واحدة يجعلها مختلفة عن بقية النسخ.</a:t>
            </a:r>
          </a:p>
          <a:p>
            <a:pPr marL="555625" marR="69215" indent="-120650" rtl="1">
              <a:lnSpc>
                <a:spcPct val="111600"/>
              </a:lnSpc>
              <a:spcBef>
                <a:spcPts val="400"/>
              </a:spcBef>
              <a:buClr>
                <a:srgbClr val="3333B2"/>
              </a:buClr>
              <a:buFont typeface="Menlo"/>
              <a:buChar char="•"/>
              <a:tabLst>
                <a:tab pos="552450" algn="l"/>
              </a:tabLst>
            </a:pPr>
            <a:endParaRPr sz="900">
              <a:latin typeface="Arial"/>
              <a:cs typeface="Arial"/>
            </a:endParaRPr>
            <a:r>
              <a:rPr lang="ar-SA" altLang="en-US" sz="900">
                <a:latin typeface="Arial"/>
              </a:rPr>
              <a:t>الحفاظ على اتساق النسخ دائمًا وبطريقة عامة يتطلب مزامنة عالمية عند كل تعديل.</a:t>
            </a:r>
          </a:p>
          <a:p>
            <a:pPr marL="555625" indent="-120650" rtl="1">
              <a:lnSpc>
                <a:spcPct val="100000"/>
              </a:lnSpc>
              <a:spcBef>
                <a:spcPts val="520"/>
              </a:spcBef>
              <a:buClr>
                <a:srgbClr val="3333B2"/>
              </a:buClr>
              <a:buFont typeface="Menlo"/>
              <a:buChar char="•"/>
              <a:tabLst>
                <a:tab pos="556260" algn="l"/>
              </a:tabLst>
            </a:pPr>
            <a:endParaRPr sz="900">
              <a:latin typeface="Arial"/>
              <a:cs typeface="Arial"/>
            </a:endParaRPr>
            <a:r>
              <a:rPr lang="ar-SA" altLang="en-US" sz="900">
                <a:latin typeface="Arial"/>
              </a:rPr>
              <a:t>المزامنة العالمية تحول دون الحلول واسعة النطاق.</a:t>
            </a:r>
          </a:p>
          <a:p>
            <a:pPr>
              <a:lnSpc>
                <a:spcPct val="100000"/>
              </a:lnSpc>
              <a:spcBef>
                <a:spcPts val="30"/>
              </a:spcBef>
            </a:pPr>
            <a:endParaRPr sz="1200">
              <a:latin typeface="Arial"/>
              <a:cs typeface="Arial"/>
            </a:endParaRPr>
          </a:p>
          <a:p>
            <a:pPr marL="302260" rtl="1">
              <a:lnSpc>
                <a:spcPct val="100000"/>
              </a:lnSpc>
            </a:pPr>
            <a:endParaRPr sz="1000">
              <a:latin typeface="Arial"/>
              <a:cs typeface="Arial"/>
            </a:endParaRPr>
            <a:r>
              <a:rPr lang="ar-SA" altLang="en-US" sz="1000">
                <a:latin typeface="Arial"/>
              </a:rPr>
              <a:t>ملاحظة</a:t>
            </a:r>
          </a:p>
          <a:p>
            <a:pPr marL="302260" marR="257810" rtl="1">
              <a:lnSpc>
                <a:spcPts val="1210"/>
              </a:lnSpc>
              <a:spcBef>
                <a:spcPts val="40"/>
              </a:spcBef>
            </a:pPr>
            <a:endParaRPr sz="900">
              <a:latin typeface="Arial"/>
              <a:cs typeface="Arial"/>
            </a:endParaRPr>
            <a:r>
              <a:rPr lang="ar-SA" altLang="en-US" sz="900">
                <a:latin typeface="Arial"/>
              </a:rPr>
              <a:t>إذا تمكنّا من تحمّل عدم الاتساق، يمكننا تقليل الحاجة إلى المزامنة العالمية، لكن تحمّل عدم الاتساق يعتمد على طبيعة التطبيق.</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105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قابلية التوسع</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3240405" algn="l"/>
              </a:tabLst>
            </a:pPr>
            <a:endParaRPr sz="500">
              <a:latin typeface="Arial"/>
              <a:cs typeface="Arial"/>
            </a:endParaRPr>
            <a:r>
              <a:rPr lang="ar-SA" altLang="en-US" sz="500">
                <a:latin typeface="Arial"/>
              </a:rPr>
              <a:t>مقدمة	تصنيف بسيط للأنظمة الموزعة</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الحوسبة المتوازية</a:t>
            </a:r>
          </a:p>
        </p:txBody>
      </p:sp>
      <p:sp>
        <p:nvSpPr>
          <p:cNvPr id="4" name="object 4"/>
          <p:cNvSpPr txBox="1"/>
          <p:nvPr/>
        </p:nvSpPr>
        <p:spPr>
          <a:xfrm>
            <a:off x="347294" y="499307"/>
            <a:ext cx="3622675" cy="599440"/>
          </a:xfrm>
          <a:prstGeom prst="rect">
            <a:avLst/>
          </a:prstGeom>
        </p:spPr>
        <p:txBody>
          <a:bodyPr vert="horz" wrap="square" lIns="0" tIns="27305" rIns="0" bIns="0" rtlCol="0">
            <a:spAutoFit/>
          </a:bodyPr>
          <a:lstStyle/>
          <a:p>
            <a:pPr marL="12700" rtl="1">
              <a:lnSpc>
                <a:spcPct val="100000"/>
              </a:lnSpc>
              <a:spcBef>
                <a:spcPts val="215"/>
              </a:spcBef>
            </a:pPr>
            <a:endParaRPr sz="1000">
              <a:latin typeface="Arial"/>
              <a:cs typeface="Arial"/>
            </a:endParaRPr>
            <a:r>
              <a:rPr lang="ar-SA" altLang="en-US" sz="1000">
                <a:latin typeface="Arial"/>
              </a:rPr>
              <a:t>ملاحظة</a:t>
            </a:r>
          </a:p>
          <a:p>
            <a:pPr marL="12700" rtl="1">
              <a:lnSpc>
                <a:spcPct val="100000"/>
              </a:lnSpc>
              <a:spcBef>
                <a:spcPts val="105"/>
              </a:spcBef>
            </a:pPr>
            <a:endParaRPr sz="900">
              <a:latin typeface="Arial"/>
              <a:cs typeface="Arial"/>
            </a:endParaRPr>
            <a:r>
              <a:rPr lang="ar-SA" altLang="en-US" sz="900">
                <a:latin typeface="Arial"/>
              </a:rPr>
              <a:t>بدأت الحوسبة الموزعة عالية الأداء بالحوسبة المتوازية</a:t>
            </a:r>
          </a:p>
          <a:p>
            <a:pPr marL="12700" rtl="1">
              <a:lnSpc>
                <a:spcPct val="100000"/>
              </a:lnSpc>
              <a:spcBef>
                <a:spcPts val="815"/>
              </a:spcBef>
            </a:pPr>
            <a:endParaRPr sz="1000">
              <a:latin typeface="Arial"/>
              <a:cs typeface="Arial"/>
            </a:endParaRPr>
            <a:r>
              <a:rPr lang="ar-SA" altLang="en-US" sz="1000">
                <a:latin typeface="Arial"/>
              </a:rPr>
              <a:t>متعدد المعالجات ومتعدد الأنوية مقابل متعدد الحواسيب</a:t>
            </a:r>
          </a:p>
        </p:txBody>
      </p:sp>
      <p:pic>
        <p:nvPicPr>
          <p:cNvPr id="5" name="object 5"/>
          <p:cNvPicPr/>
          <p:nvPr/>
        </p:nvPicPr>
        <p:blipFill>
          <a:blip r:embed="rId4" cstate="print"/>
          <a:stretch>
            <a:fillRect/>
          </a:stretch>
        </p:blipFill>
        <p:spPr>
          <a:xfrm>
            <a:off x="467575" y="1113784"/>
            <a:ext cx="1203339" cy="1055768"/>
          </a:xfrm>
          <a:prstGeom prst="rect">
            <a:avLst/>
          </a:prstGeom>
        </p:spPr>
      </p:pic>
      <p:pic>
        <p:nvPicPr>
          <p:cNvPr id="6" name="object 6"/>
          <p:cNvPicPr/>
          <p:nvPr/>
        </p:nvPicPr>
        <p:blipFill>
          <a:blip r:embed="rId5" cstate="print"/>
          <a:stretch>
            <a:fillRect/>
          </a:stretch>
        </p:blipFill>
        <p:spPr>
          <a:xfrm>
            <a:off x="1903770" y="1104488"/>
            <a:ext cx="1598858" cy="1060002"/>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114998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الحوسبة الموزعة عالية الأداء</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3240405" algn="l"/>
              </a:tabLst>
            </a:pPr>
            <a:endParaRPr sz="500">
              <a:latin typeface="Arial"/>
              <a:cs typeface="Arial"/>
            </a:endParaRPr>
            <a:r>
              <a:rPr lang="ar-SA" altLang="en-US" sz="500">
                <a:latin typeface="Arial"/>
              </a:rPr>
              <a:t>مقدمة	تصنيف بسيط للأنظمة الموزعة</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أنظمة الذاكرة المشتركة الموزعة</a:t>
            </a:r>
          </a:p>
        </p:txBody>
      </p:sp>
      <p:sp>
        <p:nvSpPr>
          <p:cNvPr id="4" name="object 4"/>
          <p:cNvSpPr txBox="1"/>
          <p:nvPr/>
        </p:nvSpPr>
        <p:spPr>
          <a:xfrm>
            <a:off x="343547" y="499476"/>
            <a:ext cx="3917315" cy="2406015"/>
          </a:xfrm>
          <a:prstGeom prst="rect">
            <a:avLst/>
          </a:prstGeom>
        </p:spPr>
        <p:txBody>
          <a:bodyPr vert="horz" wrap="square" lIns="0" tIns="27305" rIns="0" bIns="0" rtlCol="0">
            <a:spAutoFit/>
          </a:bodyPr>
          <a:lstStyle/>
          <a:p>
            <a:pPr marL="15875" rtl="1">
              <a:lnSpc>
                <a:spcPct val="100000"/>
              </a:lnSpc>
              <a:spcBef>
                <a:spcPts val="215"/>
              </a:spcBef>
            </a:pPr>
            <a:endParaRPr sz="1000">
              <a:latin typeface="Arial"/>
              <a:cs typeface="Arial"/>
            </a:endParaRPr>
            <a:r>
              <a:rPr lang="ar-SA" altLang="en-US" sz="1000">
                <a:latin typeface="Arial"/>
              </a:rPr>
              <a:t>ملاحظة</a:t>
            </a:r>
          </a:p>
          <a:p>
            <a:pPr marL="12700" marR="5080" indent="3175" rtl="1">
              <a:lnSpc>
                <a:spcPts val="1210"/>
              </a:lnSpc>
              <a:spcBef>
                <a:spcPts val="35"/>
              </a:spcBef>
            </a:pPr>
            <a:endParaRPr sz="900">
              <a:latin typeface="Arial"/>
              <a:cs typeface="Arial"/>
            </a:endParaRPr>
            <a:r>
              <a:rPr lang="ar-SA" altLang="en-US" sz="900">
                <a:latin typeface="Arial"/>
              </a:rPr>
              <a:t>تُعدّ الأنظمة متعددة المعالجات أسهل نسبيًا في البرمجة مقارنةً بالأنظمة متعددة الحواسيب، إلا أنها تواجه مشكلات عند زيادة عدد المعالجات (أو الأنوية). الحل: محاولة تطبيق نموذج الذاكرة المشتركة فوق نظام متعدد الحواسيب.</a:t>
            </a:r>
          </a:p>
          <a:p>
            <a:pPr marL="15875" rtl="1">
              <a:lnSpc>
                <a:spcPct val="100000"/>
              </a:lnSpc>
              <a:spcBef>
                <a:spcPts val="740"/>
              </a:spcBef>
            </a:pPr>
            <a:endParaRPr sz="1000">
              <a:latin typeface="Arial"/>
              <a:cs typeface="Arial"/>
            </a:endParaRPr>
            <a:r>
              <a:rPr lang="ar-SA" altLang="en-US" sz="1000">
                <a:latin typeface="Arial"/>
              </a:rPr>
              <a:t>مثال باستخدام تقنيات الذاكرة الافتراضية</a:t>
            </a:r>
          </a:p>
          <a:p>
            <a:pPr marL="15875" marR="5080" rtl="1">
              <a:lnSpc>
                <a:spcPct val="111600"/>
              </a:lnSpc>
              <a:spcBef>
                <a:spcPts val="185"/>
              </a:spcBef>
            </a:pPr>
            <a:endParaRPr sz="900">
              <a:latin typeface="Arial"/>
              <a:cs typeface="Arial"/>
            </a:endParaRPr>
            <a:r>
              <a:rPr lang="ar-SA" altLang="en-US" sz="900">
                <a:latin typeface="Arial"/>
              </a:rPr>
              <a:t>تعيين جميع صفحات الذاكرة الرئيسية (من معالجات مختلفة) في فضاء عناوين افتراضي واحد. إذا عنونت عملية في المعالج A صفحةً P موجودة في المعالج B، يعترض نظام التشغيل في A ويسترجع P من B، كما لو كانت P موجودة على القرص المحلي.</a:t>
            </a:r>
          </a:p>
          <a:p>
            <a:pPr marL="15875" rtl="1">
              <a:lnSpc>
                <a:spcPct val="100000"/>
              </a:lnSpc>
              <a:spcBef>
                <a:spcPts val="810"/>
              </a:spcBef>
            </a:pPr>
            <a:endParaRPr sz="1000">
              <a:latin typeface="Arial"/>
              <a:cs typeface="Arial"/>
            </a:endParaRPr>
            <a:r>
              <a:rPr lang="ar-SA" altLang="en-US" sz="1000">
                <a:latin typeface="Arial"/>
              </a:rPr>
              <a:t>المشكلة</a:t>
            </a:r>
          </a:p>
          <a:p>
            <a:pPr marL="15875" marR="73660" algn="just" rtl="1">
              <a:lnSpc>
                <a:spcPts val="1210"/>
              </a:lnSpc>
              <a:spcBef>
                <a:spcPts val="35"/>
              </a:spcBef>
            </a:pPr>
            <a:endParaRPr sz="900">
              <a:latin typeface="Arial"/>
              <a:cs typeface="Arial"/>
            </a:endParaRPr>
            <a:r>
              <a:rPr lang="ar-SA" altLang="en-US" sz="900">
                <a:latin typeface="Arial"/>
              </a:rPr>
              <a:t>لم يستطع أداء الذاكرة المشتركة الموزعة يومًا منافسة الأنظمة متعددة المعالجات، وأخفق في تلبية توقعات المبرمجين. وقد هُجر هذا النهج على نطاق واسع.</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4998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الحوسبة الموزعة عالية الأداء</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3240405" algn="l"/>
              </a:tabLst>
            </a:pPr>
            <a:endParaRPr sz="500">
              <a:latin typeface="Arial"/>
              <a:cs typeface="Arial"/>
            </a:endParaRPr>
            <a:r>
              <a:rPr lang="ar-SA" altLang="en-US" sz="500">
                <a:latin typeface="Arial"/>
              </a:rPr>
              <a:t>مقدمة	تصنيف بسيط للأنظمة الموزعة</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الحوسبة العنقودية</a:t>
            </a:r>
          </a:p>
        </p:txBody>
      </p:sp>
      <p:sp>
        <p:nvSpPr>
          <p:cNvPr id="4" name="object 4"/>
          <p:cNvSpPr txBox="1"/>
          <p:nvPr/>
        </p:nvSpPr>
        <p:spPr>
          <a:xfrm>
            <a:off x="334594" y="514774"/>
            <a:ext cx="3756025" cy="557530"/>
          </a:xfrm>
          <a:prstGeom prst="rect">
            <a:avLst/>
          </a:prstGeom>
        </p:spPr>
        <p:txBody>
          <a:bodyPr vert="horz" wrap="square" lIns="0" tIns="12065" rIns="0" bIns="0" rtlCol="0">
            <a:spAutoFit/>
          </a:bodyPr>
          <a:lstStyle/>
          <a:p>
            <a:pPr marL="25400" rtl="1">
              <a:lnSpc>
                <a:spcPct val="100000"/>
              </a:lnSpc>
              <a:spcBef>
                <a:spcPts val="95"/>
              </a:spcBef>
            </a:pPr>
            <a:endParaRPr sz="1000">
              <a:latin typeface="Arial"/>
              <a:cs typeface="Arial"/>
            </a:endParaRPr>
            <a:r>
              <a:rPr lang="ar-SA" altLang="en-US" sz="1000">
                <a:latin typeface="Arial"/>
              </a:rPr>
              <a:t>مجموعة من الأنظمة عالية الأداء المترابطة عبر شبكة محلية (LAN)</a:t>
            </a:r>
          </a:p>
          <a:p>
            <a:pPr marL="278130" indent="-120650" rtl="1">
              <a:lnSpc>
                <a:spcPct val="100000"/>
              </a:lnSpc>
              <a:spcBef>
                <a:spcPts val="710"/>
              </a:spcBef>
              <a:buClr>
                <a:srgbClr val="3333B2"/>
              </a:buClr>
              <a:buFont typeface="Menlo"/>
              <a:buChar char="•"/>
              <a:tabLst>
                <a:tab pos="278765" algn="l"/>
              </a:tabLst>
            </a:pPr>
            <a:endParaRPr sz="900">
              <a:latin typeface="Arial"/>
              <a:cs typeface="Arial"/>
            </a:endParaRPr>
            <a:r>
              <a:rPr lang="ar-SA" altLang="en-US" sz="900">
                <a:latin typeface="Arial"/>
              </a:rPr>
              <a:t>متجانسة: نفس نظام التشغيل وأجهزة متطابقة تقريبًا</a:t>
            </a:r>
          </a:p>
          <a:p>
            <a:pPr marL="278130" indent="-120650" rtl="1">
              <a:lnSpc>
                <a:spcPct val="100000"/>
              </a:lnSpc>
              <a:spcBef>
                <a:spcPts val="125"/>
              </a:spcBef>
              <a:buClr>
                <a:srgbClr val="3333B2"/>
              </a:buClr>
              <a:buFont typeface="Menlo"/>
              <a:buChar char="•"/>
              <a:tabLst>
                <a:tab pos="278765" algn="l"/>
              </a:tabLst>
            </a:pPr>
            <a:endParaRPr sz="900">
              <a:latin typeface="Arial"/>
              <a:cs typeface="Arial"/>
            </a:endParaRPr>
            <a:r>
              <a:rPr lang="ar-SA" altLang="en-US" sz="900">
                <a:latin typeface="Arial"/>
              </a:rPr>
              <a:t>عقدة إدارية واحدة أو عقد مترابطة بشكل وثيق</a:t>
            </a:r>
          </a:p>
        </p:txBody>
      </p:sp>
      <p:pic>
        <p:nvPicPr>
          <p:cNvPr id="5" name="object 5"/>
          <p:cNvPicPr/>
          <p:nvPr/>
        </p:nvPicPr>
        <p:blipFill>
          <a:blip r:embed="rId4" cstate="print"/>
          <a:stretch>
            <a:fillRect/>
          </a:stretch>
        </p:blipFill>
        <p:spPr>
          <a:xfrm>
            <a:off x="789508" y="1237862"/>
            <a:ext cx="3026449" cy="1610645"/>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14998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الحوسبة الموزعة عالية الأداء</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281413" y="-1515"/>
            <a:ext cx="127317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a:latin typeface="Arial"/>
              </a:rPr>
              <a:t>تصنيف بسيط للأنظمة الموزعة</a:t>
            </a:r>
          </a:p>
        </p:txBody>
      </p:sp>
      <p:sp>
        <p:nvSpPr>
          <p:cNvPr id="5" name="object 5"/>
          <p:cNvSpPr txBox="1"/>
          <p:nvPr/>
        </p:nvSpPr>
        <p:spPr>
          <a:xfrm>
            <a:off x="57200" y="197711"/>
            <a:ext cx="3869054" cy="1915160"/>
          </a:xfrm>
          <a:prstGeom prst="rect">
            <a:avLst/>
          </a:prstGeom>
        </p:spPr>
        <p:txBody>
          <a:bodyPr vert="horz" wrap="square" lIns="0" tIns="12065" rIns="0" bIns="0" rtlCol="0">
            <a:spAutoFit/>
          </a:bodyPr>
          <a:lstStyle/>
          <a:p>
            <a:pPr marL="50800" rtl="1">
              <a:lnSpc>
                <a:spcPct val="100000"/>
              </a:lnSpc>
              <a:spcBef>
                <a:spcPts val="95"/>
              </a:spcBef>
            </a:pPr>
            <a:endParaRPr sz="1200">
              <a:latin typeface="Arial"/>
              <a:cs typeface="Arial"/>
            </a:endParaRPr>
            <a:r>
              <a:rPr lang="ar-SA" altLang="en-US" sz="1200">
                <a:latin typeface="Arial"/>
              </a:rPr>
              <a:t>الحوسبة الشبكية (Grid)</a:t>
            </a:r>
          </a:p>
          <a:p>
            <a:pPr marL="298450" rtl="1">
              <a:lnSpc>
                <a:spcPct val="100000"/>
              </a:lnSpc>
              <a:spcBef>
                <a:spcPts val="1055"/>
              </a:spcBef>
            </a:pPr>
            <a:endParaRPr sz="1000">
              <a:latin typeface="Arial"/>
              <a:cs typeface="Arial"/>
            </a:endParaRPr>
            <a:r>
              <a:rPr lang="ar-SA" altLang="en-US" sz="1000">
                <a:latin typeface="Arial"/>
              </a:rPr>
              <a:t>الخطوة التالية: وفرة من العقد من كل مكان</a:t>
            </a:r>
          </a:p>
          <a:p>
            <a:pPr marL="555625" indent="-120650" rtl="1">
              <a:lnSpc>
                <a:spcPct val="100000"/>
              </a:lnSpc>
              <a:spcBef>
                <a:spcPts val="700"/>
              </a:spcBef>
              <a:buClr>
                <a:srgbClr val="3333B2"/>
              </a:buClr>
              <a:buFont typeface="Menlo"/>
              <a:buChar char="•"/>
              <a:tabLst>
                <a:tab pos="556260" algn="l"/>
              </a:tabLst>
            </a:pPr>
            <a:endParaRPr sz="900">
              <a:latin typeface="Arial"/>
              <a:cs typeface="Arial"/>
            </a:endParaRPr>
            <a:r>
              <a:rPr lang="ar-SA" altLang="en-US" sz="900">
                <a:latin typeface="Arial"/>
              </a:rPr>
              <a:t>غير متجانسة</a:t>
            </a:r>
          </a:p>
          <a:p>
            <a:pPr marL="555625" indent="-120650" rtl="1">
              <a:lnSpc>
                <a:spcPct val="100000"/>
              </a:lnSpc>
              <a:spcBef>
                <a:spcPts val="525"/>
              </a:spcBef>
              <a:buClr>
                <a:srgbClr val="3333B2"/>
              </a:buClr>
              <a:buFont typeface="Menlo"/>
              <a:buChar char="•"/>
              <a:tabLst>
                <a:tab pos="556260" algn="l"/>
              </a:tabLst>
            </a:pPr>
            <a:endParaRPr sz="900">
              <a:latin typeface="Arial"/>
              <a:cs typeface="Arial"/>
            </a:endParaRPr>
            <a:r>
              <a:rPr lang="ar-SA" altLang="en-US" sz="900">
                <a:latin typeface="Arial"/>
              </a:rPr>
              <a:t>موزعة عبر منظمات متعددة</a:t>
            </a:r>
          </a:p>
          <a:p>
            <a:pPr marL="555625" indent="-120650" rtl="1">
              <a:lnSpc>
                <a:spcPct val="100000"/>
              </a:lnSpc>
              <a:spcBef>
                <a:spcPts val="525"/>
              </a:spcBef>
              <a:buClr>
                <a:srgbClr val="3333B2"/>
              </a:buClr>
              <a:buFont typeface="Menlo"/>
              <a:buChar char="•"/>
              <a:tabLst>
                <a:tab pos="556260" algn="l"/>
              </a:tabLst>
            </a:pPr>
            <a:endParaRPr sz="900">
              <a:latin typeface="Arial"/>
              <a:cs typeface="Arial"/>
            </a:endParaRPr>
            <a:r>
              <a:rPr lang="ar-SA" altLang="en-US" sz="900">
                <a:latin typeface="Arial"/>
              </a:rPr>
              <a:t>يمكنها بسهولة تغطية شبكة واسعة النطاق</a:t>
            </a:r>
          </a:p>
          <a:p>
            <a:pPr>
              <a:lnSpc>
                <a:spcPct val="100000"/>
              </a:lnSpc>
              <a:spcBef>
                <a:spcPts val="20"/>
              </a:spcBef>
            </a:pPr>
            <a:endParaRPr sz="1200">
              <a:latin typeface="Arial"/>
              <a:cs typeface="Arial"/>
            </a:endParaRPr>
          </a:p>
          <a:p>
            <a:pPr marL="302260" rtl="1">
              <a:lnSpc>
                <a:spcPct val="100000"/>
              </a:lnSpc>
            </a:pPr>
            <a:endParaRPr sz="1000">
              <a:latin typeface="Arial"/>
              <a:cs typeface="Arial"/>
            </a:endParaRPr>
            <a:r>
              <a:rPr lang="ar-SA" altLang="en-US" sz="1000">
                <a:latin typeface="Arial"/>
              </a:rPr>
              <a:t>ملاحظة</a:t>
            </a:r>
          </a:p>
          <a:p>
            <a:pPr marL="302260" marR="17780" indent="-3810" algn="just" rtl="1">
              <a:lnSpc>
                <a:spcPts val="1210"/>
              </a:lnSpc>
              <a:spcBef>
                <a:spcPts val="40"/>
              </a:spcBef>
            </a:pPr>
            <a:endParaRPr sz="900">
              <a:latin typeface="Arial"/>
              <a:cs typeface="Arial"/>
            </a:endParaRPr>
            <a:r>
              <a:rPr lang="ar-SA" altLang="en-US" sz="900">
                <a:latin typeface="Arial"/>
              </a:rPr>
              <a:t>للسماح بالتعاون، تستخدم الشبكات الحسابية عمومًا المنظمات الافتراضية. وهي في جوهرها تجميع للمستخدمين (أو تحديدًا: معرّفاتهم) يُتيح التفويض في تخصيص الموارد.</a:t>
            </a: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14998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الحوسبة الموزعة عالية الأداء</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281413" y="-1515"/>
            <a:ext cx="127317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a:latin typeface="Arial"/>
              </a:rPr>
              <a:t>تصنيف بسيط للأنظمة الموزعة</a:t>
            </a:r>
          </a:p>
        </p:txBody>
      </p:sp>
      <p:sp>
        <p:nvSpPr>
          <p:cNvPr id="5" name="object 5"/>
          <p:cNvSpPr txBox="1"/>
          <p:nvPr/>
        </p:nvSpPr>
        <p:spPr>
          <a:xfrm>
            <a:off x="95300" y="126976"/>
            <a:ext cx="2404110" cy="489584"/>
          </a:xfrm>
          <a:prstGeom prst="rect">
            <a:avLst/>
          </a:prstGeom>
        </p:spPr>
        <p:txBody>
          <a:bodyPr vert="horz" wrap="square" lIns="0" tIns="82550" rIns="0" bIns="0" rtlCol="0">
            <a:spAutoFit/>
          </a:bodyPr>
          <a:lstStyle/>
          <a:p>
            <a:pPr marL="12700" rtl="1">
              <a:lnSpc>
                <a:spcPct val="100000"/>
              </a:lnSpc>
              <a:spcBef>
                <a:spcPts val="650"/>
              </a:spcBef>
            </a:pPr>
            <a:endParaRPr sz="1200">
              <a:latin typeface="Arial"/>
              <a:cs typeface="Arial"/>
            </a:endParaRPr>
            <a:r>
              <a:rPr lang="ar-SA" altLang="en-US" sz="1200">
                <a:latin typeface="Arial"/>
              </a:rPr>
              <a:t>مثال على EAI: المعاملات (المتداخلة)</a:t>
            </a:r>
          </a:p>
          <a:p>
            <a:pPr marL="260350" rtl="1">
              <a:lnSpc>
                <a:spcPct val="100000"/>
              </a:lnSpc>
              <a:spcBef>
                <a:spcPts val="459"/>
              </a:spcBef>
            </a:pPr>
            <a:endParaRPr sz="1000">
              <a:latin typeface="Arial"/>
              <a:cs typeface="Arial"/>
            </a:endParaRPr>
            <a:r>
              <a:rPr lang="ar-SA" altLang="en-US" sz="1000">
                <a:latin typeface="Arial"/>
              </a:rPr>
              <a:t>المعاملة</a:t>
            </a:r>
          </a:p>
        </p:txBody>
      </p:sp>
      <p:sp>
        <p:nvSpPr>
          <p:cNvPr id="6" name="object 6"/>
          <p:cNvSpPr/>
          <p:nvPr/>
        </p:nvSpPr>
        <p:spPr>
          <a:xfrm>
            <a:off x="983132" y="960564"/>
            <a:ext cx="30480" cy="0"/>
          </a:xfrm>
          <a:custGeom>
            <a:avLst/>
            <a:gdLst/>
            <a:ahLst/>
            <a:cxnLst/>
            <a:rect l="l" t="t" r="r" b="b"/>
            <a:pathLst>
              <a:path w="30480">
                <a:moveTo>
                  <a:pt x="0" y="0"/>
                </a:moveTo>
                <a:lnTo>
                  <a:pt x="30365" y="0"/>
                </a:lnTo>
              </a:path>
            </a:pathLst>
          </a:custGeom>
          <a:ln w="5054">
            <a:solidFill>
              <a:srgbClr val="000000"/>
            </a:solidFill>
          </a:ln>
        </p:spPr>
        <p:txBody>
          <a:bodyPr wrap="square" lIns="0" tIns="0" rIns="0" bIns="0" rtlCol="0"/>
          <a:lstStyle/>
          <a:p>
            <a:endParaRPr/>
          </a:p>
        </p:txBody>
      </p:sp>
      <p:sp>
        <p:nvSpPr>
          <p:cNvPr id="7" name="object 7"/>
          <p:cNvSpPr/>
          <p:nvPr/>
        </p:nvSpPr>
        <p:spPr>
          <a:xfrm>
            <a:off x="878281" y="1111072"/>
            <a:ext cx="30480" cy="0"/>
          </a:xfrm>
          <a:custGeom>
            <a:avLst/>
            <a:gdLst/>
            <a:ahLst/>
            <a:cxnLst/>
            <a:rect l="l" t="t" r="r" b="b"/>
            <a:pathLst>
              <a:path w="30480">
                <a:moveTo>
                  <a:pt x="0" y="0"/>
                </a:moveTo>
                <a:lnTo>
                  <a:pt x="30365" y="0"/>
                </a:lnTo>
              </a:path>
            </a:pathLst>
          </a:custGeom>
          <a:ln w="5054">
            <a:solidFill>
              <a:srgbClr val="000000"/>
            </a:solidFill>
          </a:ln>
        </p:spPr>
        <p:txBody>
          <a:bodyPr wrap="square" lIns="0" tIns="0" rIns="0" bIns="0" rtlCol="0"/>
          <a:lstStyle/>
          <a:p>
            <a:endParaRPr/>
          </a:p>
        </p:txBody>
      </p:sp>
      <p:sp>
        <p:nvSpPr>
          <p:cNvPr id="8" name="object 8"/>
          <p:cNvSpPr/>
          <p:nvPr/>
        </p:nvSpPr>
        <p:spPr>
          <a:xfrm>
            <a:off x="1020089" y="1261567"/>
            <a:ext cx="30480" cy="0"/>
          </a:xfrm>
          <a:custGeom>
            <a:avLst/>
            <a:gdLst/>
            <a:ahLst/>
            <a:cxnLst/>
            <a:rect l="l" t="t" r="r" b="b"/>
            <a:pathLst>
              <a:path w="30480">
                <a:moveTo>
                  <a:pt x="0" y="0"/>
                </a:moveTo>
                <a:lnTo>
                  <a:pt x="30365" y="0"/>
                </a:lnTo>
              </a:path>
            </a:pathLst>
          </a:custGeom>
          <a:ln w="5054">
            <a:solidFill>
              <a:srgbClr val="000000"/>
            </a:solidFill>
          </a:ln>
        </p:spPr>
        <p:txBody>
          <a:bodyPr wrap="square" lIns="0" tIns="0" rIns="0" bIns="0" rtlCol="0"/>
          <a:lstStyle/>
          <a:p>
            <a:endParaRPr/>
          </a:p>
        </p:txBody>
      </p:sp>
      <p:graphicFrame>
        <p:nvGraphicFramePr>
          <p:cNvPr id="9" name="object 9"/>
          <p:cNvGraphicFramePr>
            <a:graphicFrameLocks noGrp="1"/>
          </p:cNvGraphicFramePr>
          <p:nvPr/>
        </p:nvGraphicFramePr>
        <p:xfrm>
          <a:off x="573303" y="691807"/>
          <a:ext cx="3456304" cy="915670"/>
        </p:xfrm>
        <a:graphic>
          <a:graphicData uri="http://schemas.openxmlformats.org/drawingml/2006/table">
            <a:tbl>
              <a:tblPr firstRow="1" bandRow="1">
                <a:tableStyleId>{2D5ABB26-0587-4C30-8999-92F81FD0307C}</a:tableStyleId>
              </a:tblPr>
              <a:tblGrid>
                <a:gridCol w="1283335">
                  <a:extLst>
                    <a:ext uri="{9D8B030D-6E8A-4147-A177-3AD203B41FA5}">
                      <a16:colId xmlns:a16="http://schemas.microsoft.com/office/drawing/2014/main" val="20000"/>
                    </a:ext>
                  </a:extLst>
                </a:gridCol>
                <a:gridCol w="2172969">
                  <a:extLst>
                    <a:ext uri="{9D8B030D-6E8A-4147-A177-3AD203B41FA5}">
                      <a16:colId xmlns:a16="http://schemas.microsoft.com/office/drawing/2014/main" val="20001"/>
                    </a:ext>
                  </a:extLst>
                </a:gridCol>
              </a:tblGrid>
              <a:tr h="156845">
                <a:tc>
                  <a:txBody>
                    <a:bodyPr/>
                    <a:lstStyle/>
                    <a:p>
                      <a:pPr marL="78105">
                        <a:lnSpc>
                          <a:spcPct val="100000"/>
                        </a:lnSpc>
                        <a:spcBef>
                          <a:spcPts val="20"/>
                        </a:spcBef>
                      </a:pPr>
                      <a:r>
                        <a:rPr sz="800" b="1" spc="-10" dirty="0">
                          <a:latin typeface="Arial"/>
                          <a:cs typeface="Arial"/>
                        </a:rPr>
                        <a:t>Primitive</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0"/>
                        </a:spcBef>
                      </a:pPr>
                      <a:r>
                        <a:rPr sz="800" b="1" spc="-10" dirty="0">
                          <a:latin typeface="Arial"/>
                          <a:cs typeface="Arial"/>
                        </a:rPr>
                        <a:t>Description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845">
                <a:tc>
                  <a:txBody>
                    <a:bodyPr/>
                    <a:lstStyle/>
                    <a:p>
                      <a:pPr marL="78105">
                        <a:lnSpc>
                          <a:spcPct val="100000"/>
                        </a:lnSpc>
                        <a:spcBef>
                          <a:spcPts val="75"/>
                        </a:spcBef>
                      </a:pPr>
                      <a:r>
                        <a:rPr sz="800" i="1" dirty="0">
                          <a:latin typeface="Arial"/>
                          <a:cs typeface="Arial"/>
                        </a:rPr>
                        <a:t>BEGIN</a:t>
                      </a:r>
                      <a:r>
                        <a:rPr sz="800" i="1" spc="95" dirty="0">
                          <a:latin typeface="Arial"/>
                          <a:cs typeface="Arial"/>
                        </a:rPr>
                        <a:t> </a:t>
                      </a:r>
                      <a:r>
                        <a:rPr sz="800" i="1" spc="-10" dirty="0">
                          <a:latin typeface="Arial"/>
                          <a:cs typeface="Arial"/>
                        </a:rPr>
                        <a:t>TRANSACTION</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800" dirty="0">
                          <a:latin typeface="Arial"/>
                          <a:cs typeface="Arial"/>
                        </a:rPr>
                        <a:t>Mark</a:t>
                      </a:r>
                      <a:r>
                        <a:rPr sz="800" spc="-10" dirty="0">
                          <a:latin typeface="Arial"/>
                          <a:cs typeface="Arial"/>
                        </a:rPr>
                        <a:t> </a:t>
                      </a:r>
                      <a:r>
                        <a:rPr sz="800" dirty="0">
                          <a:latin typeface="Arial"/>
                          <a:cs typeface="Arial"/>
                        </a:rPr>
                        <a:t>the</a:t>
                      </a:r>
                      <a:r>
                        <a:rPr sz="800" spc="-10" dirty="0">
                          <a:latin typeface="Arial"/>
                          <a:cs typeface="Arial"/>
                        </a:rPr>
                        <a:t> </a:t>
                      </a:r>
                      <a:r>
                        <a:rPr sz="800" dirty="0">
                          <a:latin typeface="Arial"/>
                          <a:cs typeface="Arial"/>
                        </a:rPr>
                        <a:t>start</a:t>
                      </a:r>
                      <a:r>
                        <a:rPr sz="800" spc="-5" dirty="0">
                          <a:latin typeface="Arial"/>
                          <a:cs typeface="Arial"/>
                        </a:rPr>
                        <a:t> </a:t>
                      </a:r>
                      <a:r>
                        <a:rPr sz="800" dirty="0">
                          <a:latin typeface="Arial"/>
                          <a:cs typeface="Arial"/>
                        </a:rPr>
                        <a:t>of</a:t>
                      </a:r>
                      <a:r>
                        <a:rPr sz="800" spc="-10" dirty="0">
                          <a:latin typeface="Arial"/>
                          <a:cs typeface="Arial"/>
                        </a:rPr>
                        <a:t> </a:t>
                      </a:r>
                      <a:r>
                        <a:rPr sz="800" dirty="0">
                          <a:latin typeface="Arial"/>
                          <a:cs typeface="Arial"/>
                        </a:rPr>
                        <a:t>a</a:t>
                      </a:r>
                      <a:r>
                        <a:rPr sz="800" spc="-10" dirty="0">
                          <a:latin typeface="Arial"/>
                          <a:cs typeface="Arial"/>
                        </a:rPr>
                        <a:t> transaction</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50495">
                <a:tc>
                  <a:txBody>
                    <a:bodyPr/>
                    <a:lstStyle/>
                    <a:p>
                      <a:pPr marL="78105">
                        <a:lnSpc>
                          <a:spcPct val="100000"/>
                        </a:lnSpc>
                        <a:spcBef>
                          <a:spcPts val="20"/>
                        </a:spcBef>
                      </a:pPr>
                      <a:r>
                        <a:rPr sz="800" i="1" dirty="0">
                          <a:latin typeface="Arial"/>
                          <a:cs typeface="Arial"/>
                        </a:rPr>
                        <a:t>END</a:t>
                      </a:r>
                      <a:r>
                        <a:rPr sz="800" i="1" spc="75" dirty="0">
                          <a:latin typeface="Arial"/>
                          <a:cs typeface="Arial"/>
                        </a:rPr>
                        <a:t> </a:t>
                      </a:r>
                      <a:r>
                        <a:rPr sz="800" i="1" spc="-10" dirty="0">
                          <a:latin typeface="Arial"/>
                          <a:cs typeface="Arial"/>
                        </a:rPr>
                        <a:t>TRANSACTION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spc="-10" dirty="0">
                          <a:latin typeface="Arial"/>
                          <a:cs typeface="Arial"/>
                        </a:rPr>
                        <a:t>Terminate</a:t>
                      </a:r>
                      <a:r>
                        <a:rPr sz="800" spc="-25" dirty="0">
                          <a:latin typeface="Arial"/>
                          <a:cs typeface="Arial"/>
                        </a:rPr>
                        <a:t> </a:t>
                      </a:r>
                      <a:r>
                        <a:rPr sz="800" dirty="0">
                          <a:latin typeface="Arial"/>
                          <a:cs typeface="Arial"/>
                        </a:rPr>
                        <a:t>the</a:t>
                      </a:r>
                      <a:r>
                        <a:rPr sz="800" spc="-20" dirty="0">
                          <a:latin typeface="Arial"/>
                          <a:cs typeface="Arial"/>
                        </a:rPr>
                        <a:t> </a:t>
                      </a:r>
                      <a:r>
                        <a:rPr sz="800" dirty="0">
                          <a:latin typeface="Arial"/>
                          <a:cs typeface="Arial"/>
                        </a:rPr>
                        <a:t>transaction</a:t>
                      </a:r>
                      <a:r>
                        <a:rPr sz="800" spc="-25" dirty="0">
                          <a:latin typeface="Arial"/>
                          <a:cs typeface="Arial"/>
                        </a:rPr>
                        <a:t> </a:t>
                      </a:r>
                      <a:r>
                        <a:rPr sz="800" dirty="0">
                          <a:latin typeface="Arial"/>
                          <a:cs typeface="Arial"/>
                        </a:rPr>
                        <a:t>and</a:t>
                      </a:r>
                      <a:r>
                        <a:rPr sz="800" spc="-20" dirty="0">
                          <a:latin typeface="Arial"/>
                          <a:cs typeface="Arial"/>
                        </a:rPr>
                        <a:t> </a:t>
                      </a:r>
                      <a:r>
                        <a:rPr sz="800" dirty="0">
                          <a:latin typeface="Arial"/>
                          <a:cs typeface="Arial"/>
                        </a:rPr>
                        <a:t>try</a:t>
                      </a:r>
                      <a:r>
                        <a:rPr sz="800" spc="-20" dirty="0">
                          <a:latin typeface="Arial"/>
                          <a:cs typeface="Arial"/>
                        </a:rPr>
                        <a:t> </a:t>
                      </a:r>
                      <a:r>
                        <a:rPr sz="800" dirty="0">
                          <a:latin typeface="Arial"/>
                          <a:cs typeface="Arial"/>
                        </a:rPr>
                        <a:t>to</a:t>
                      </a:r>
                      <a:r>
                        <a:rPr sz="800" spc="-25" dirty="0">
                          <a:latin typeface="Arial"/>
                          <a:cs typeface="Arial"/>
                        </a:rPr>
                        <a:t> </a:t>
                      </a:r>
                      <a:r>
                        <a:rPr sz="800" spc="-10" dirty="0">
                          <a:latin typeface="Arial"/>
                          <a:cs typeface="Arial"/>
                        </a:rPr>
                        <a:t>commit</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0495">
                <a:tc>
                  <a:txBody>
                    <a:bodyPr/>
                    <a:lstStyle/>
                    <a:p>
                      <a:pPr marL="78105">
                        <a:lnSpc>
                          <a:spcPct val="100000"/>
                        </a:lnSpc>
                        <a:spcBef>
                          <a:spcPts val="20"/>
                        </a:spcBef>
                      </a:pPr>
                      <a:r>
                        <a:rPr sz="800" i="1" dirty="0">
                          <a:latin typeface="Arial"/>
                          <a:cs typeface="Arial"/>
                        </a:rPr>
                        <a:t>ABORT</a:t>
                      </a:r>
                      <a:r>
                        <a:rPr sz="800" i="1" spc="114" dirty="0">
                          <a:latin typeface="Arial"/>
                          <a:cs typeface="Arial"/>
                        </a:rPr>
                        <a:t> </a:t>
                      </a:r>
                      <a:r>
                        <a:rPr sz="800" i="1" spc="-10" dirty="0">
                          <a:latin typeface="Arial"/>
                          <a:cs typeface="Arial"/>
                        </a:rPr>
                        <a:t>TRANSACTION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dirty="0">
                          <a:latin typeface="Arial"/>
                          <a:cs typeface="Arial"/>
                        </a:rPr>
                        <a:t>Kill</a:t>
                      </a:r>
                      <a:r>
                        <a:rPr sz="800" spc="-25" dirty="0">
                          <a:latin typeface="Arial"/>
                          <a:cs typeface="Arial"/>
                        </a:rPr>
                        <a:t> </a:t>
                      </a:r>
                      <a:r>
                        <a:rPr sz="800" dirty="0">
                          <a:latin typeface="Arial"/>
                          <a:cs typeface="Arial"/>
                        </a:rPr>
                        <a:t>the</a:t>
                      </a:r>
                      <a:r>
                        <a:rPr sz="800" spc="-25" dirty="0">
                          <a:latin typeface="Arial"/>
                          <a:cs typeface="Arial"/>
                        </a:rPr>
                        <a:t> </a:t>
                      </a:r>
                      <a:r>
                        <a:rPr sz="800" dirty="0">
                          <a:latin typeface="Arial"/>
                          <a:cs typeface="Arial"/>
                        </a:rPr>
                        <a:t>transaction</a:t>
                      </a:r>
                      <a:r>
                        <a:rPr sz="800" spc="-25" dirty="0">
                          <a:latin typeface="Arial"/>
                          <a:cs typeface="Arial"/>
                        </a:rPr>
                        <a:t> </a:t>
                      </a:r>
                      <a:r>
                        <a:rPr sz="800" dirty="0">
                          <a:latin typeface="Arial"/>
                          <a:cs typeface="Arial"/>
                        </a:rPr>
                        <a:t>and</a:t>
                      </a:r>
                      <a:r>
                        <a:rPr sz="800" spc="-20" dirty="0">
                          <a:latin typeface="Arial"/>
                          <a:cs typeface="Arial"/>
                        </a:rPr>
                        <a:t> </a:t>
                      </a:r>
                      <a:r>
                        <a:rPr sz="800" dirty="0">
                          <a:latin typeface="Arial"/>
                          <a:cs typeface="Arial"/>
                        </a:rPr>
                        <a:t>restore</a:t>
                      </a:r>
                      <a:r>
                        <a:rPr sz="800" spc="-25" dirty="0">
                          <a:latin typeface="Arial"/>
                          <a:cs typeface="Arial"/>
                        </a:rPr>
                        <a:t> </a:t>
                      </a:r>
                      <a:r>
                        <a:rPr sz="800" dirty="0">
                          <a:latin typeface="Arial"/>
                          <a:cs typeface="Arial"/>
                        </a:rPr>
                        <a:t>the</a:t>
                      </a:r>
                      <a:r>
                        <a:rPr sz="800" spc="-25" dirty="0">
                          <a:latin typeface="Arial"/>
                          <a:cs typeface="Arial"/>
                        </a:rPr>
                        <a:t> </a:t>
                      </a:r>
                      <a:r>
                        <a:rPr sz="800" dirty="0">
                          <a:latin typeface="Arial"/>
                          <a:cs typeface="Arial"/>
                        </a:rPr>
                        <a:t>old</a:t>
                      </a:r>
                      <a:r>
                        <a:rPr sz="800" spc="-25" dirty="0">
                          <a:latin typeface="Arial"/>
                          <a:cs typeface="Arial"/>
                        </a:rPr>
                        <a:t> </a:t>
                      </a:r>
                      <a:r>
                        <a:rPr sz="800" spc="-10" dirty="0">
                          <a:latin typeface="Arial"/>
                          <a:cs typeface="Arial"/>
                        </a:rPr>
                        <a:t>values</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50495">
                <a:tc>
                  <a:txBody>
                    <a:bodyPr/>
                    <a:lstStyle/>
                    <a:p>
                      <a:pPr marL="78105">
                        <a:lnSpc>
                          <a:spcPct val="100000"/>
                        </a:lnSpc>
                        <a:spcBef>
                          <a:spcPts val="20"/>
                        </a:spcBef>
                      </a:pPr>
                      <a:r>
                        <a:rPr sz="800" i="1" spc="-20" dirty="0">
                          <a:latin typeface="Arial"/>
                          <a:cs typeface="Arial"/>
                        </a:rPr>
                        <a:t>READ</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dirty="0">
                          <a:latin typeface="Arial"/>
                          <a:cs typeface="Arial"/>
                        </a:rPr>
                        <a:t>Read</a:t>
                      </a:r>
                      <a:r>
                        <a:rPr sz="800" spc="-20" dirty="0">
                          <a:latin typeface="Arial"/>
                          <a:cs typeface="Arial"/>
                        </a:rPr>
                        <a:t> </a:t>
                      </a:r>
                      <a:r>
                        <a:rPr sz="800" dirty="0">
                          <a:latin typeface="Arial"/>
                          <a:cs typeface="Arial"/>
                        </a:rPr>
                        <a:t>data</a:t>
                      </a:r>
                      <a:r>
                        <a:rPr sz="800" spc="-15" dirty="0">
                          <a:latin typeface="Arial"/>
                          <a:cs typeface="Arial"/>
                        </a:rPr>
                        <a:t> </a:t>
                      </a:r>
                      <a:r>
                        <a:rPr sz="800" dirty="0">
                          <a:latin typeface="Arial"/>
                          <a:cs typeface="Arial"/>
                        </a:rPr>
                        <a:t>from</a:t>
                      </a:r>
                      <a:r>
                        <a:rPr sz="800" spc="-15" dirty="0">
                          <a:latin typeface="Arial"/>
                          <a:cs typeface="Arial"/>
                        </a:rPr>
                        <a:t> </a:t>
                      </a:r>
                      <a:r>
                        <a:rPr sz="800" dirty="0">
                          <a:latin typeface="Arial"/>
                          <a:cs typeface="Arial"/>
                        </a:rPr>
                        <a:t>a</a:t>
                      </a:r>
                      <a:r>
                        <a:rPr sz="800" spc="-15" dirty="0">
                          <a:latin typeface="Arial"/>
                          <a:cs typeface="Arial"/>
                        </a:rPr>
                        <a:t> </a:t>
                      </a:r>
                      <a:r>
                        <a:rPr sz="800" dirty="0">
                          <a:latin typeface="Arial"/>
                          <a:cs typeface="Arial"/>
                        </a:rPr>
                        <a:t>file,</a:t>
                      </a:r>
                      <a:r>
                        <a:rPr sz="800" spc="-20" dirty="0">
                          <a:latin typeface="Arial"/>
                          <a:cs typeface="Arial"/>
                        </a:rPr>
                        <a:t> </a:t>
                      </a:r>
                      <a:r>
                        <a:rPr sz="800" dirty="0">
                          <a:latin typeface="Arial"/>
                          <a:cs typeface="Arial"/>
                        </a:rPr>
                        <a:t>a</a:t>
                      </a:r>
                      <a:r>
                        <a:rPr sz="800" spc="-15" dirty="0">
                          <a:latin typeface="Arial"/>
                          <a:cs typeface="Arial"/>
                        </a:rPr>
                        <a:t> </a:t>
                      </a:r>
                      <a:r>
                        <a:rPr sz="800" spc="-10" dirty="0">
                          <a:latin typeface="Arial"/>
                          <a:cs typeface="Arial"/>
                        </a:rPr>
                        <a:t>table,</a:t>
                      </a:r>
                      <a:r>
                        <a:rPr sz="800" spc="-15" dirty="0">
                          <a:latin typeface="Arial"/>
                          <a:cs typeface="Arial"/>
                        </a:rPr>
                        <a:t> </a:t>
                      </a:r>
                      <a:r>
                        <a:rPr sz="800" dirty="0">
                          <a:latin typeface="Arial"/>
                          <a:cs typeface="Arial"/>
                        </a:rPr>
                        <a:t>or</a:t>
                      </a:r>
                      <a:r>
                        <a:rPr sz="800" spc="-15" dirty="0">
                          <a:latin typeface="Arial"/>
                          <a:cs typeface="Arial"/>
                        </a:rPr>
                        <a:t> </a:t>
                      </a:r>
                      <a:r>
                        <a:rPr sz="800" spc="-10" dirty="0">
                          <a:latin typeface="Arial"/>
                          <a:cs typeface="Arial"/>
                        </a:rPr>
                        <a:t>otherwise</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0495">
                <a:tc>
                  <a:txBody>
                    <a:bodyPr/>
                    <a:lstStyle/>
                    <a:p>
                      <a:pPr marL="78105">
                        <a:lnSpc>
                          <a:spcPct val="100000"/>
                        </a:lnSpc>
                        <a:spcBef>
                          <a:spcPts val="20"/>
                        </a:spcBef>
                      </a:pPr>
                      <a:r>
                        <a:rPr sz="800" i="1" spc="-10" dirty="0">
                          <a:latin typeface="Arial"/>
                          <a:cs typeface="Arial"/>
                        </a:rPr>
                        <a:t>WRITE</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dirty="0">
                          <a:latin typeface="Arial"/>
                          <a:cs typeface="Arial"/>
                        </a:rPr>
                        <a:t>Write</a:t>
                      </a:r>
                      <a:r>
                        <a:rPr sz="800" spc="-15" dirty="0">
                          <a:latin typeface="Arial"/>
                          <a:cs typeface="Arial"/>
                        </a:rPr>
                        <a:t> </a:t>
                      </a:r>
                      <a:r>
                        <a:rPr sz="800" dirty="0">
                          <a:latin typeface="Arial"/>
                          <a:cs typeface="Arial"/>
                        </a:rPr>
                        <a:t>data</a:t>
                      </a:r>
                      <a:r>
                        <a:rPr sz="800" spc="-15" dirty="0">
                          <a:latin typeface="Arial"/>
                          <a:cs typeface="Arial"/>
                        </a:rPr>
                        <a:t> </a:t>
                      </a:r>
                      <a:r>
                        <a:rPr sz="800" dirty="0">
                          <a:latin typeface="Arial"/>
                          <a:cs typeface="Arial"/>
                        </a:rPr>
                        <a:t>to</a:t>
                      </a:r>
                      <a:r>
                        <a:rPr sz="800" spc="-15" dirty="0">
                          <a:latin typeface="Arial"/>
                          <a:cs typeface="Arial"/>
                        </a:rPr>
                        <a:t> </a:t>
                      </a:r>
                      <a:r>
                        <a:rPr sz="800" dirty="0">
                          <a:latin typeface="Arial"/>
                          <a:cs typeface="Arial"/>
                        </a:rPr>
                        <a:t>a</a:t>
                      </a:r>
                      <a:r>
                        <a:rPr sz="800" spc="-10" dirty="0">
                          <a:latin typeface="Arial"/>
                          <a:cs typeface="Arial"/>
                        </a:rPr>
                        <a:t> </a:t>
                      </a:r>
                      <a:r>
                        <a:rPr sz="800" dirty="0">
                          <a:latin typeface="Arial"/>
                          <a:cs typeface="Arial"/>
                        </a:rPr>
                        <a:t>file,</a:t>
                      </a:r>
                      <a:r>
                        <a:rPr sz="800" spc="-15" dirty="0">
                          <a:latin typeface="Arial"/>
                          <a:cs typeface="Arial"/>
                        </a:rPr>
                        <a:t> </a:t>
                      </a:r>
                      <a:r>
                        <a:rPr sz="800" dirty="0">
                          <a:latin typeface="Arial"/>
                          <a:cs typeface="Arial"/>
                        </a:rPr>
                        <a:t>a</a:t>
                      </a:r>
                      <a:r>
                        <a:rPr sz="800" spc="-15" dirty="0">
                          <a:latin typeface="Arial"/>
                          <a:cs typeface="Arial"/>
                        </a:rPr>
                        <a:t> </a:t>
                      </a:r>
                      <a:r>
                        <a:rPr sz="800" spc="-10" dirty="0">
                          <a:latin typeface="Arial"/>
                          <a:cs typeface="Arial"/>
                        </a:rPr>
                        <a:t>table,</a:t>
                      </a:r>
                      <a:r>
                        <a:rPr sz="800" spc="-15" dirty="0">
                          <a:latin typeface="Arial"/>
                          <a:cs typeface="Arial"/>
                        </a:rPr>
                        <a:t> </a:t>
                      </a:r>
                      <a:r>
                        <a:rPr sz="800" dirty="0">
                          <a:latin typeface="Arial"/>
                          <a:cs typeface="Arial"/>
                        </a:rPr>
                        <a:t>or</a:t>
                      </a:r>
                      <a:r>
                        <a:rPr sz="800" spc="-10" dirty="0">
                          <a:latin typeface="Arial"/>
                          <a:cs typeface="Arial"/>
                        </a:rPr>
                        <a:t> otherwise</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pic>
        <p:nvPicPr>
          <p:cNvPr id="10" name="object 10"/>
          <p:cNvPicPr/>
          <p:nvPr/>
        </p:nvPicPr>
        <p:blipFill>
          <a:blip r:embed="rId4" cstate="print"/>
          <a:stretch>
            <a:fillRect/>
          </a:stretch>
        </p:blipFill>
        <p:spPr>
          <a:xfrm>
            <a:off x="312269" y="2096020"/>
            <a:ext cx="1246333" cy="1000658"/>
          </a:xfrm>
          <a:prstGeom prst="rect">
            <a:avLst/>
          </a:prstGeom>
        </p:spPr>
      </p:pic>
      <p:sp>
        <p:nvSpPr>
          <p:cNvPr id="11" name="object 11"/>
          <p:cNvSpPr txBox="1"/>
          <p:nvPr/>
        </p:nvSpPr>
        <p:spPr>
          <a:xfrm>
            <a:off x="334594" y="1828856"/>
            <a:ext cx="3917315" cy="800735"/>
          </a:xfrm>
          <a:prstGeom prst="rect">
            <a:avLst/>
          </a:prstGeom>
        </p:spPr>
        <p:txBody>
          <a:bodyPr vert="horz" wrap="square" lIns="0" tIns="12065" rIns="0" bIns="0" rtlCol="0">
            <a:spAutoFit/>
          </a:bodyPr>
          <a:lstStyle/>
          <a:p>
            <a:pPr marL="25400" rtl="1">
              <a:lnSpc>
                <a:spcPct val="100000"/>
              </a:lnSpc>
              <a:spcBef>
                <a:spcPts val="95"/>
              </a:spcBef>
            </a:pPr>
            <a:endParaRPr sz="1000">
              <a:latin typeface="Arial"/>
              <a:cs typeface="Arial"/>
            </a:endParaRPr>
            <a:r>
              <a:rPr lang="ar-SA" altLang="en-US" sz="1000">
                <a:latin typeface="Arial"/>
              </a:rPr>
              <a:t>المسألة: الكل أو لا شيء</a:t>
            </a:r>
          </a:p>
          <a:p>
            <a:pPr marL="1694180" indent="-114300" rtl="1">
              <a:lnSpc>
                <a:spcPct val="100000"/>
              </a:lnSpc>
              <a:spcBef>
                <a:spcPts val="819"/>
              </a:spcBef>
              <a:buFont typeface="Menlo"/>
              <a:buChar char="•"/>
              <a:tabLst>
                <a:tab pos="1694814" algn="l"/>
              </a:tabLst>
            </a:pPr>
            <a:endParaRPr sz="800">
              <a:latin typeface="Arial"/>
              <a:cs typeface="Arial"/>
            </a:endParaRPr>
            <a:r>
              <a:rPr lang="ar-SA" altLang="en-US" sz="800">
                <a:latin typeface="Arial"/>
              </a:rPr>
              <a:t>ذرية (Atomic): تحدث بشكل لا يتجزأ (ظاهريًا)</a:t>
            </a:r>
          </a:p>
          <a:p>
            <a:pPr marL="1694180" indent="-114300" rtl="1">
              <a:lnSpc>
                <a:spcPct val="100000"/>
              </a:lnSpc>
              <a:spcBef>
                <a:spcPts val="85"/>
              </a:spcBef>
              <a:buFont typeface="Menlo"/>
              <a:buChar char="•"/>
              <a:tabLst>
                <a:tab pos="1694814" algn="l"/>
              </a:tabLst>
            </a:pPr>
            <a:endParaRPr sz="800">
              <a:latin typeface="Arial"/>
              <a:cs typeface="Arial"/>
            </a:endParaRPr>
            <a:r>
              <a:rPr lang="ar-SA" altLang="en-US" sz="800">
                <a:latin typeface="Arial"/>
              </a:rPr>
              <a:t>متسقة (Consistent): لا تنتهك ثوابت النظام</a:t>
            </a:r>
          </a:p>
          <a:p>
            <a:pPr marL="1694180" indent="-114300" rtl="1">
              <a:lnSpc>
                <a:spcPct val="100000"/>
              </a:lnSpc>
              <a:spcBef>
                <a:spcPts val="80"/>
              </a:spcBef>
              <a:buFont typeface="Menlo"/>
              <a:buChar char="•"/>
              <a:tabLst>
                <a:tab pos="1694814" algn="l"/>
              </a:tabLst>
            </a:pPr>
            <a:endParaRPr sz="800">
              <a:latin typeface="Arial"/>
              <a:cs typeface="Arial"/>
            </a:endParaRPr>
            <a:r>
              <a:rPr lang="ar-SA" altLang="en-US" sz="800">
                <a:latin typeface="Arial"/>
              </a:rPr>
              <a:t>معزولة (Isolated): لا تداخل متبادل</a:t>
            </a:r>
          </a:p>
          <a:p>
            <a:pPr marL="1694180" indent="-114300" rtl="1">
              <a:lnSpc>
                <a:spcPct val="100000"/>
              </a:lnSpc>
              <a:spcBef>
                <a:spcPts val="80"/>
              </a:spcBef>
              <a:buFont typeface="Menlo"/>
              <a:buChar char="•"/>
              <a:tabLst>
                <a:tab pos="1694814" algn="l"/>
              </a:tabLst>
            </a:pPr>
            <a:endParaRPr sz="800">
              <a:latin typeface="Arial"/>
              <a:cs typeface="Arial"/>
            </a:endParaRPr>
            <a:r>
              <a:rPr lang="ar-SA" altLang="en-US" sz="800">
                <a:latin typeface="Arial"/>
              </a:rPr>
              <a:t>دائمة (Durable): الالتزام يعني أن التغييرات دائمة</a:t>
            </a: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9074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أنظمة المعلومات الموزعة</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5623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sz="500">
                <a:latin typeface="Arial"/>
              </a:rPr>
              <a:t>مقدمة</a:t>
            </a: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281413" y="-1515"/>
            <a:ext cx="1273175" cy="101600"/>
          </a:xfrm>
          <a:prstGeom prst="rect">
            <a:avLst/>
          </a:prstGeom>
        </p:spPr>
        <p:txBody>
          <a:bodyPr vert="horz" wrap="square" lIns="0" tIns="12065" rIns="0" bIns="0" rtlCol="0">
            <a:spAutoFit/>
          </a:bodyPr>
          <a:lstStyle/>
          <a:p>
            <a:pPr marL="12700" rtl="1">
              <a:lnSpc>
                <a:spcPct val="100000"/>
              </a:lnSpc>
              <a:spcBef>
                <a:spcPts val="95"/>
              </a:spcBef>
            </a:pPr>
            <a:endParaRPr sz="500">
              <a:latin typeface="Arial"/>
              <a:cs typeface="Arial"/>
            </a:endParaRPr>
            <a:r>
              <a:rPr lang="ar-SA" altLang="en-US">
                <a:latin typeface="Arial"/>
              </a:rPr>
              <a:t>تصنيف بسيط للأنظمة الموزعة</a:t>
            </a:r>
          </a:p>
        </p:txBody>
      </p:sp>
      <p:sp>
        <p:nvSpPr>
          <p:cNvPr id="5" name="object 5"/>
          <p:cNvSpPr txBox="1"/>
          <p:nvPr/>
        </p:nvSpPr>
        <p:spPr>
          <a:xfrm>
            <a:off x="95300" y="197711"/>
            <a:ext cx="1379220" cy="207645"/>
          </a:xfrm>
          <a:prstGeom prst="rect">
            <a:avLst/>
          </a:prstGeom>
        </p:spPr>
        <p:txBody>
          <a:bodyPr vert="horz" wrap="square" lIns="0" tIns="12065" rIns="0" bIns="0" rtlCol="0">
            <a:spAutoFit/>
          </a:bodyPr>
          <a:lstStyle/>
          <a:p>
            <a:pPr marL="12700" rtl="1">
              <a:lnSpc>
                <a:spcPct val="100000"/>
              </a:lnSpc>
              <a:spcBef>
                <a:spcPts val="95"/>
              </a:spcBef>
            </a:pPr>
            <a:endParaRPr sz="1200">
              <a:latin typeface="Arial"/>
              <a:cs typeface="Arial"/>
            </a:endParaRPr>
            <a:r>
              <a:rPr lang="ar-SA" altLang="en-US" sz="1200">
                <a:latin typeface="Arial"/>
              </a:rPr>
              <a:t>البرمجيات الوسيطة وتكامل التطبيقات المؤسسية (EAI)</a:t>
            </a:r>
          </a:p>
        </p:txBody>
      </p:sp>
      <p:pic>
        <p:nvPicPr>
          <p:cNvPr id="6" name="object 6"/>
          <p:cNvPicPr/>
          <p:nvPr/>
        </p:nvPicPr>
        <p:blipFill>
          <a:blip r:embed="rId4" cstate="print"/>
          <a:stretch>
            <a:fillRect/>
          </a:stretch>
        </p:blipFill>
        <p:spPr>
          <a:xfrm>
            <a:off x="971637" y="560414"/>
            <a:ext cx="2662212" cy="1433941"/>
          </a:xfrm>
          <a:prstGeom prst="rect">
            <a:avLst/>
          </a:prstGeom>
        </p:spPr>
      </p:pic>
      <p:sp>
        <p:nvSpPr>
          <p:cNvPr id="7" name="object 7"/>
          <p:cNvSpPr txBox="1"/>
          <p:nvPr/>
        </p:nvSpPr>
        <p:spPr>
          <a:xfrm>
            <a:off x="347294" y="2098057"/>
            <a:ext cx="3912870" cy="1067435"/>
          </a:xfrm>
          <a:prstGeom prst="rect">
            <a:avLst/>
          </a:prstGeom>
        </p:spPr>
        <p:txBody>
          <a:bodyPr vert="horz" wrap="square" lIns="0" tIns="12065" rIns="0" bIns="0" rtlCol="0">
            <a:spAutoFit/>
          </a:bodyPr>
          <a:lstStyle/>
          <a:p>
            <a:pPr marL="12700" rtl="1">
              <a:lnSpc>
                <a:spcPct val="100000"/>
              </a:lnSpc>
              <a:spcBef>
                <a:spcPts val="95"/>
              </a:spcBef>
            </a:pPr>
            <a:endParaRPr sz="1000">
              <a:latin typeface="Arial"/>
              <a:cs typeface="Arial"/>
            </a:endParaRPr>
            <a:r>
              <a:rPr lang="ar-SA" altLang="en-US" sz="1000">
                <a:latin typeface="Arial"/>
              </a:rPr>
              <a:t>توفر البرمجيات الوسيطة وسائل اتصال للتكامل</a:t>
            </a:r>
          </a:p>
          <a:p>
            <a:pPr marL="246379" marR="5080" indent="-234315" rtl="1">
              <a:lnSpc>
                <a:spcPct val="111600"/>
              </a:lnSpc>
              <a:spcBef>
                <a:spcPts val="585"/>
              </a:spcBef>
            </a:pPr>
            <a:endParaRPr sz="900">
              <a:latin typeface="Arial"/>
              <a:cs typeface="Arial"/>
            </a:endParaRPr>
            <a:r>
              <a:rPr lang="ar-SA" altLang="en-US" sz="900">
                <a:latin typeface="Arial"/>
              </a:rPr>
              <a:t>الاستدعاء الإجرائي عن بُعد (RPC): تُرسل الطلبات عبر استدعاء إجرائي محلي، وتُعبّأ كرسالة، وتُعالج، ثم يُستجاب لها برسالة، ويُعاد الناتج كقيمة إرجاع.</a:t>
            </a:r>
          </a:p>
          <a:p>
            <a:pPr marL="246379" marR="27305" indent="-234315" rtl="1">
              <a:lnSpc>
                <a:spcPct val="111600"/>
              </a:lnSpc>
              <a:spcBef>
                <a:spcPts val="395"/>
              </a:spcBef>
            </a:pPr>
            <a:endParaRPr sz="900">
              <a:latin typeface="Arial"/>
              <a:cs typeface="Arial"/>
            </a:endParaRPr>
            <a:r>
              <a:rPr lang="ar-SA" altLang="en-US" sz="900">
                <a:latin typeface="Arial"/>
              </a:rPr>
              <a:t>البرمجيات الوسيطة الموجهة بالرسائل (MOM): تُرسل الرسائل إلى نقطة اتصال منطقية (تُنشر)، ثم تُعاد توجيهها إلى التطبيقات المشتركة.</a:t>
            </a: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07415"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أنظمة المعلومات الموزعة</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rtl="1">
              <a:lnSpc>
                <a:spcPct val="100000"/>
              </a:lnSpc>
              <a:spcBef>
                <a:spcPts val="95"/>
              </a:spcBef>
              <a:tabLst>
                <a:tab pos="3240405" algn="l"/>
              </a:tabLst>
            </a:pPr>
            <a:endParaRPr sz="500">
              <a:latin typeface="Arial"/>
              <a:cs typeface="Arial"/>
            </a:endParaRPr>
            <a:r>
              <a:rPr lang="ar-SA" altLang="en-US" sz="500">
                <a:latin typeface="Arial"/>
              </a:rPr>
              <a:t>مقدمة	تصنيف بسيط للأنظمة الموزعة</a:t>
            </a: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rtl="1">
              <a:lnSpc>
                <a:spcPct val="100000"/>
              </a:lnSpc>
              <a:spcBef>
                <a:spcPts val="95"/>
              </a:spcBef>
            </a:pPr>
            <a:r>
              <a:rPr lang="ar-SA" altLang="en-US"/>
              <a:t>الأنظمة الموزعة المنتشرة في كل مكان</a:t>
            </a:r>
          </a:p>
        </p:txBody>
      </p:sp>
      <p:sp>
        <p:nvSpPr>
          <p:cNvPr id="4" name="object 4"/>
          <p:cNvSpPr txBox="1"/>
          <p:nvPr/>
        </p:nvSpPr>
        <p:spPr>
          <a:xfrm>
            <a:off x="330682" y="499476"/>
            <a:ext cx="3949700" cy="1998980"/>
          </a:xfrm>
          <a:prstGeom prst="rect">
            <a:avLst/>
          </a:prstGeom>
        </p:spPr>
        <p:txBody>
          <a:bodyPr vert="horz" wrap="square" lIns="0" tIns="27305" rIns="0" bIns="0" rtlCol="0">
            <a:spAutoFit/>
          </a:bodyPr>
          <a:lstStyle/>
          <a:p>
            <a:pPr marL="29209" rtl="1">
              <a:lnSpc>
                <a:spcPct val="100000"/>
              </a:lnSpc>
              <a:spcBef>
                <a:spcPts val="215"/>
              </a:spcBef>
            </a:pPr>
            <a:endParaRPr sz="1000">
              <a:latin typeface="Arial"/>
              <a:cs typeface="Arial"/>
            </a:endParaRPr>
            <a:r>
              <a:rPr lang="ar-SA" altLang="en-US" sz="1000">
                <a:latin typeface="Arial"/>
              </a:rPr>
              <a:t>ملاحظة</a:t>
            </a:r>
          </a:p>
          <a:p>
            <a:pPr marL="29209" marR="25400" rtl="1">
              <a:lnSpc>
                <a:spcPts val="1210"/>
              </a:lnSpc>
              <a:spcBef>
                <a:spcPts val="35"/>
              </a:spcBef>
            </a:pPr>
            <a:endParaRPr sz="900">
              <a:latin typeface="Arial"/>
              <a:cs typeface="Arial"/>
            </a:endParaRPr>
            <a:r>
              <a:rPr lang="ar-SA" altLang="en-US" sz="900">
                <a:latin typeface="Arial"/>
              </a:rPr>
              <a:t>الجيل القادم الناشئ من الأنظمة الموزعة، التي تتسم بعقد صغيرة ومتنقلة وكثيرًا ما تكون مدمجة في نظام أكبر، ويميزها اندماجها الطبيعي في بيئة المستخدم.</a:t>
            </a:r>
          </a:p>
          <a:p>
            <a:pPr marL="25400" rtl="1">
              <a:lnSpc>
                <a:spcPct val="100000"/>
              </a:lnSpc>
              <a:spcBef>
                <a:spcPts val="745"/>
              </a:spcBef>
            </a:pPr>
            <a:endParaRPr sz="1000">
              <a:latin typeface="Arial"/>
              <a:cs typeface="Arial"/>
            </a:endParaRPr>
            <a:r>
              <a:rPr lang="ar-SA" altLang="en-US" sz="1000">
                <a:latin typeface="Arial"/>
              </a:rPr>
              <a:t>ثلاثة أنواع فرعية (متداخلة)</a:t>
            </a:r>
          </a:p>
          <a:p>
            <a:pPr marL="281940" marR="17780" indent="-120650" rtl="1">
              <a:lnSpc>
                <a:spcPct val="111600"/>
              </a:lnSpc>
              <a:spcBef>
                <a:spcPts val="580"/>
              </a:spcBef>
              <a:buFont typeface="Menlo"/>
              <a:buChar char="•"/>
              <a:tabLst>
                <a:tab pos="282575" algn="l"/>
              </a:tabLst>
            </a:pPr>
            <a:endParaRPr sz="900">
              <a:latin typeface="Arial"/>
              <a:cs typeface="Arial"/>
            </a:endParaRPr>
            <a:r>
              <a:rPr lang="ar-SA" altLang="en-US" sz="900">
                <a:latin typeface="Arial"/>
              </a:rPr>
              <a:t>أنظمة الحوسبة في كل مكان (Ubiquitous Computing): منتشرة وحاضرة باستمرار، أي يوجد تفاعل مستمر بين النظام والمستخدم.</a:t>
            </a:r>
          </a:p>
          <a:p>
            <a:pPr marL="281940" marR="129539" indent="-120650" rtl="1">
              <a:lnSpc>
                <a:spcPct val="111600"/>
              </a:lnSpc>
              <a:spcBef>
                <a:spcPts val="400"/>
              </a:spcBef>
              <a:buFont typeface="Menlo"/>
              <a:buChar char="•"/>
              <a:tabLst>
                <a:tab pos="282575" algn="l"/>
              </a:tabLst>
            </a:pPr>
            <a:endParaRPr sz="900">
              <a:latin typeface="Arial"/>
              <a:cs typeface="Arial"/>
            </a:endParaRPr>
            <a:r>
              <a:rPr lang="ar-SA" altLang="en-US" sz="900">
                <a:latin typeface="Arial"/>
              </a:rPr>
              <a:t>أنظمة الحوسبة المتنقلة: منتشرة، لكن التركيز على أن الأجهزة متنقلة بطبيعتها.</a:t>
            </a:r>
          </a:p>
          <a:p>
            <a:pPr marL="278130" marR="47625" indent="-116839" rtl="1">
              <a:lnSpc>
                <a:spcPct val="111600"/>
              </a:lnSpc>
              <a:spcBef>
                <a:spcPts val="400"/>
              </a:spcBef>
              <a:buFont typeface="Menlo"/>
              <a:buChar char="•"/>
              <a:tabLst>
                <a:tab pos="282575" algn="l"/>
              </a:tabLst>
            </a:pPr>
            <a:endParaRPr sz="900">
              <a:latin typeface="Arial"/>
              <a:cs typeface="Arial"/>
            </a:endParaRPr>
            <a:r>
              <a:rPr lang="ar-SA" altLang="en-US" sz="900">
                <a:latin typeface="Arial"/>
              </a:rPr>
              <a:t>شبكات الاستشعار (والمشغّلات): منتشرة، مع التركيز على الاستشعار الفعلي (التعاوني) والتحكم في البيئة.</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548640" cy="104139"/>
          </a:xfrm>
          <a:prstGeom prst="rect">
            <a:avLst/>
          </a:prstGeom>
        </p:spPr>
        <p:txBody>
          <a:bodyPr vert="horz" wrap="square" lIns="0" tIns="9525" rIns="0" bIns="0" rtlCol="0">
            <a:spAutoFit/>
          </a:bodyPr>
          <a:lstStyle/>
          <a:p>
            <a:pPr marL="12700" rtl="1">
              <a:lnSpc>
                <a:spcPct val="100000"/>
              </a:lnSpc>
              <a:spcBef>
                <a:spcPts val="75"/>
              </a:spcBef>
            </a:pPr>
            <a:endParaRPr sz="500">
              <a:latin typeface="Arial"/>
              <a:cs typeface="Arial"/>
            </a:endParaRPr>
            <a:r>
              <a:rPr lang="ar-SA" altLang="en-US" sz="500">
                <a:latin typeface="Arial"/>
              </a:rPr>
              <a:t>الأنظمة المنتشرة في كل مكان</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2424</Words>
  <Application>Microsoft Office PowerPoint</Application>
  <PresentationFormat>Custom</PresentationFormat>
  <Paragraphs>373</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Menlo</vt:lpstr>
      <vt:lpstr>Office Theme</vt:lpstr>
      <vt:lpstr>PowerPoint Presentation</vt:lpstr>
      <vt:lpstr>PowerPoint Presentation</vt:lpstr>
      <vt:lpstr>Alternative approach</vt:lpstr>
      <vt:lpstr>PowerPoint Presentation</vt:lpstr>
      <vt:lpstr>PowerPoint Presentation</vt:lpstr>
      <vt:lpstr>Degree of transparency</vt:lpstr>
      <vt:lpstr>PowerPoint Presentation</vt:lpstr>
      <vt:lpstr>Openness of distributed systems</vt:lpstr>
      <vt:lpstr>Policies versus mechanisms</vt:lpstr>
      <vt:lpstr>On strict separation</vt:lpstr>
      <vt:lpstr>Dependability</vt:lpstr>
      <vt:lpstr>PowerPoint Presentation</vt:lpstr>
      <vt:lpstr>Reliability versus availability</vt:lpstr>
      <vt:lpstr>PowerPoint Presentation</vt:lpstr>
      <vt:lpstr>PowerPoint Presentation</vt:lpstr>
      <vt:lpstr>On security</vt:lpstr>
      <vt:lpstr>PowerPoint Presentation</vt:lpstr>
      <vt:lpstr>PowerPoint Presentation</vt:lpstr>
      <vt:lpstr>PowerPoint Presentation</vt:lpstr>
      <vt:lpstr>PowerPoint Presentation</vt:lpstr>
      <vt:lpstr>Size scalability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Parallel computing</vt:lpstr>
      <vt:lpstr>Distributed shared memory systems</vt:lpstr>
      <vt:lpstr>Cluster computing</vt:lpstr>
      <vt:lpstr>PowerPoint Presentation</vt:lpstr>
      <vt:lpstr>PowerPoint Presentation</vt:lpstr>
      <vt:lpstr>PowerPoint Presentation</vt:lpstr>
      <vt:lpstr>Distributed pervasive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(4th edition, version 01)</dc:title>
  <cp:lastModifiedBy>Sami</cp:lastModifiedBy>
  <cp:revision>7</cp:revision>
  <dcterms:created xsi:type="dcterms:W3CDTF">2023-04-27T05:42:13Z</dcterms:created>
  <dcterms:modified xsi:type="dcterms:W3CDTF">2026-04-20T20:45:35Z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2023-04-27T00:00:00Z</vt:filetime>
  </property>
  <property fmtid="{D5CDD505-2E9C-101B-9397-08002B2CF9AE}" pid="3" name="Creator">
    <vt:lpwstr>LaTeX with Beamer class</vt:lpwstr>
  </property>
  <property fmtid="{D5CDD505-2E9C-101B-9397-08002B2CF9AE}" pid="4" name="LastSaved">
    <vt:filetime>2023-04-27T00:00:00Z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