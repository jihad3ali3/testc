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49" d="100"/>
          <a:sy n="149" d="100"/>
        </p:scale>
        <p:origin x="1675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46126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303" y="626847"/>
            <a:ext cx="1783714" cy="58229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400" b="1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400" b="1" spc="1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61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(4th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edition,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version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01)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8734" y="2409530"/>
            <a:ext cx="1891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Chapter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03:</a:t>
            </a:r>
            <a:r>
              <a:rPr sz="1400" spc="1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Processes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59885" cy="2174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Introduction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endParaRPr sz="1000">
              <a:latin typeface="Arial"/>
              <a:cs typeface="Arial"/>
            </a:endParaRPr>
          </a:p>
          <a:p>
            <a:pPr marL="259079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build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virtual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processors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software,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physical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processors:</a:t>
            </a:r>
            <a:endParaRPr sz="900">
              <a:latin typeface="Arial"/>
              <a:cs typeface="Arial"/>
            </a:endParaRPr>
          </a:p>
          <a:p>
            <a:pPr marL="1047750" marR="280670" indent="-607695">
              <a:lnSpc>
                <a:spcPct val="111600"/>
              </a:lnSpc>
              <a:spcBef>
                <a:spcPts val="400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Processor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:</a:t>
            </a:r>
            <a:r>
              <a:rPr sz="900" spc="19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capability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dirty="0">
                <a:latin typeface="Arial"/>
                <a:cs typeface="Arial"/>
              </a:rPr>
              <a:t>automatically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instructions.</a:t>
            </a:r>
            <a:endParaRPr sz="900">
              <a:latin typeface="Arial"/>
              <a:cs typeface="Arial"/>
            </a:endParaRPr>
          </a:p>
          <a:p>
            <a:pPr marL="1047750" marR="5080" indent="-455930">
              <a:lnSpc>
                <a:spcPct val="111600"/>
              </a:lnSpc>
              <a:spcBef>
                <a:spcPts val="400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:</a:t>
            </a:r>
            <a:r>
              <a:rPr sz="9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software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5" dirty="0">
                <a:latin typeface="Arial"/>
                <a:cs typeface="Arial"/>
              </a:rPr>
              <a:t> of </a:t>
            </a:r>
            <a:r>
              <a:rPr sz="900" dirty="0">
                <a:latin typeface="Arial"/>
                <a:cs typeface="Arial"/>
              </a:rPr>
              <a:t>instructions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executed.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Saving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implies </a:t>
            </a:r>
            <a:r>
              <a:rPr sz="900" dirty="0">
                <a:latin typeface="Arial"/>
                <a:cs typeface="Arial"/>
              </a:rPr>
              <a:t>stopping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saving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needed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stage.</a:t>
            </a:r>
            <a:endParaRPr sz="900">
              <a:latin typeface="Arial"/>
              <a:cs typeface="Arial"/>
            </a:endParaRPr>
          </a:p>
          <a:p>
            <a:pPr marL="1047750" marR="106680" indent="-506730">
              <a:lnSpc>
                <a:spcPct val="111600"/>
              </a:lnSpc>
              <a:spcBef>
                <a:spcPts val="395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Process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:</a:t>
            </a:r>
            <a:r>
              <a:rPr sz="9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software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threads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executed.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8305" cy="2021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switching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Contexts</a:t>
            </a:r>
            <a:endParaRPr sz="1000">
              <a:latin typeface="Arial"/>
              <a:cs typeface="Arial"/>
            </a:endParaRPr>
          </a:p>
          <a:p>
            <a:pPr marL="539115" marR="41275" indent="-116839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Processor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context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registers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instructions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stack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pointer,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counter).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context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memory,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instructions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processor context,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state).</a:t>
            </a:r>
            <a:endParaRPr sz="900">
              <a:latin typeface="Arial"/>
              <a:cs typeface="Arial"/>
            </a:endParaRPr>
          </a:p>
          <a:p>
            <a:pPr marL="542925" marR="32384" indent="-120650" algn="just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Process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context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memory,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now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MMU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values).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65600" cy="156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switching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517525" marR="6350" indent="-158750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AutoNum type="arabicPeriod"/>
              <a:tabLst>
                <a:tab pos="514350" algn="l"/>
              </a:tabLst>
            </a:pPr>
            <a:r>
              <a:rPr sz="900" spc="-10" dirty="0">
                <a:latin typeface="Arial"/>
                <a:cs typeface="Arial"/>
              </a:rPr>
              <a:t>Threads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share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same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address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context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switching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entirely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independent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  <a:p>
            <a:pPr marL="517525" marR="5080" indent="-1587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AutoNum type="arabicPeriod"/>
              <a:tabLst>
                <a:tab pos="518159" algn="l"/>
              </a:tabLst>
            </a:pP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(somewhat)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expensive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0" dirty="0">
                <a:latin typeface="Arial"/>
                <a:cs typeface="Arial"/>
              </a:rPr>
              <a:t> involves </a:t>
            </a:r>
            <a:r>
              <a:rPr sz="900" dirty="0">
                <a:latin typeface="Arial"/>
                <a:cs typeface="Arial"/>
              </a:rPr>
              <a:t>getting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loop,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trapping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kernel.</a:t>
            </a:r>
            <a:endParaRPr sz="900">
              <a:latin typeface="Arial"/>
              <a:cs typeface="Arial"/>
            </a:endParaRPr>
          </a:p>
          <a:p>
            <a:pPr marL="517525" marR="280670" indent="-1587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AutoNum type="arabicPeriod"/>
              <a:tabLst>
                <a:tab pos="518159" algn="l"/>
              </a:tabLst>
            </a:pPr>
            <a:r>
              <a:rPr sz="900" dirty="0">
                <a:latin typeface="Arial"/>
                <a:cs typeface="Arial"/>
              </a:rPr>
              <a:t>Creating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destroying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cheaper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5" dirty="0">
                <a:latin typeface="Arial"/>
                <a:cs typeface="Arial"/>
              </a:rPr>
              <a:t> for </a:t>
            </a:r>
            <a:r>
              <a:rPr sz="900" spc="-10" dirty="0">
                <a:latin typeface="Arial"/>
                <a:cs typeface="Arial"/>
              </a:rPr>
              <a:t>processes.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Processes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6400" cy="1739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Why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threads</a:t>
            </a:r>
            <a:endParaRPr sz="12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reasons</a:t>
            </a:r>
            <a:endParaRPr sz="1000">
              <a:latin typeface="Arial"/>
              <a:cs typeface="Arial"/>
            </a:endParaRPr>
          </a:p>
          <a:p>
            <a:pPr marL="542925" marR="30480" indent="-120650" algn="just">
              <a:lnSpc>
                <a:spcPct val="111600"/>
              </a:lnSpc>
              <a:spcBef>
                <a:spcPts val="570"/>
              </a:spcBef>
              <a:buFont typeface="Menlo"/>
              <a:buChar char="•"/>
              <a:tabLst>
                <a:tab pos="543560" algn="l"/>
              </a:tabLst>
            </a:pP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Avoid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needless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blocking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single-threaded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block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doing </a:t>
            </a:r>
            <a:r>
              <a:rPr sz="900" dirty="0">
                <a:latin typeface="Arial"/>
                <a:cs typeface="Arial"/>
              </a:rPr>
              <a:t>I/O;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multithreaded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CPU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  <a:p>
            <a:pPr marL="542925" marR="97155" indent="-120650" algn="just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Exploit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parallelism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threads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multithreaded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scheduled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parallel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multiprocessor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multicore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processor.</a:t>
            </a:r>
            <a:endParaRPr sz="900">
              <a:latin typeface="Arial"/>
              <a:cs typeface="Arial"/>
            </a:endParaRPr>
          </a:p>
          <a:p>
            <a:pPr marL="542925" marR="30480" indent="-120650" algn="just">
              <a:lnSpc>
                <a:spcPct val="111600"/>
              </a:lnSpc>
              <a:spcBef>
                <a:spcPts val="395"/>
              </a:spcBef>
              <a:buFont typeface="Menlo"/>
              <a:buChar char="•"/>
              <a:tabLst>
                <a:tab pos="543560" algn="l"/>
              </a:tabLst>
            </a:pP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Avoid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switching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structure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collection</a:t>
            </a:r>
            <a:r>
              <a:rPr sz="900" spc="-25" dirty="0">
                <a:latin typeface="Arial"/>
                <a:cs typeface="Arial"/>
              </a:rPr>
              <a:t> of </a:t>
            </a:r>
            <a:r>
              <a:rPr sz="900" spc="-10" dirty="0">
                <a:latin typeface="Arial"/>
                <a:cs typeface="Arial"/>
              </a:rPr>
              <a:t>processes,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threads.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threads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403</Words>
  <Application>Microsoft Office PowerPoint</Application>
  <PresentationFormat>Custom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Sami</cp:lastModifiedBy>
  <cp:revision>5</cp:revision>
  <dcterms:created xsi:type="dcterms:W3CDTF">2023-04-27T06:04:42Z</dcterms:created>
  <dcterms:modified xsi:type="dcterms:W3CDTF">2026-04-20T21:22:04Z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