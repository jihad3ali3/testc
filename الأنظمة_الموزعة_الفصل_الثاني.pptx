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4.jpg" ContentType="image/jpg"/>
  <Override PartName="/ppt/media/image5.jpg" ContentType="image/jpg"/>
  <Override PartName="/ppt/media/image6.jpg" ContentType="image/jpg"/>
  <Override PartName="/ppt/media/image7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303" r:id="rId5"/>
    <p:sldId id="304" r:id="rId6"/>
    <p:sldId id="305" r:id="rId7"/>
    <p:sldId id="306" r:id="rId8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740" autoAdjust="0"/>
    <p:restoredTop sz="94694"/>
  </p:normalViewPr>
  <p:slideViewPr>
    <p:cSldViewPr>
      <p:cViewPr>
        <p:scale>
          <a:sx n="125" d="100"/>
          <a:sy n="125" d="100"/>
        </p:scale>
        <p:origin x="2419" y="35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ADAD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ADAD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197711"/>
            <a:ext cx="2999105" cy="207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9194" y="1369435"/>
            <a:ext cx="3929379" cy="12560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319272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slide" Target="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2.xml"/><Relationship Id="rId3" Type="http://schemas.openxmlformats.org/officeDocument/2006/relationships/image" Target="../media/image4.jpg"/><Relationship Id="rId4" Type="http://schemas.openxmlformats.org/officeDocument/2006/relationships/slide" Target="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2.xml"/><Relationship Id="rId3" Type="http://schemas.openxmlformats.org/officeDocument/2006/relationships/image" Target="../media/image5.jpg"/><Relationship Id="rId4" Type="http://schemas.openxmlformats.org/officeDocument/2006/relationships/slide" Target="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2.xml"/><Relationship Id="rId3" Type="http://schemas.openxmlformats.org/officeDocument/2006/relationships/image" Target="../media/image6.jpg"/><Relationship Id="rId4" Type="http://schemas.openxmlformats.org/officeDocument/2006/relationships/slide" Target="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2.xml"/><Relationship Id="rId3" Type="http://schemas.openxmlformats.org/officeDocument/2006/relationships/image" Target="../media/image7.jpg"/><Relationship Id="rId4" Type="http://schemas.openxmlformats.org/officeDocument/2006/relationships/slide" Target="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6250" y="1120775"/>
            <a:ext cx="3810000" cy="573234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algn="r"/>
            <a:r>
              <a:rPr>
                <a:latin typeface="Arial"/>
              </a:rPr>
              <a:t>الأنظمة الموزعة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29372" y="1882775"/>
            <a:ext cx="210375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r"/>
            <a:r>
              <a:rPr>
                <a:latin typeface="Arial"/>
              </a:rPr>
              <a:t>الفصل 02: المعماريات</a:t>
            </a: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949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r"/>
            <a:r>
              <a:rPr>
                <a:latin typeface="Arial"/>
              </a:rPr>
              <a:t>المعماريات</a:t>
            </a: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998925" y="-1515"/>
            <a:ext cx="5556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r"/>
            <a:r>
              <a:rPr>
                <a:latin typeface="Arial"/>
              </a:rPr>
              <a:t>الأنماط المعمارية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7200" y="197711"/>
            <a:ext cx="3999865" cy="22485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r"/>
            <a:r>
              <a:rPr>
                <a:latin typeface="Arial"/>
              </a:rPr>
              <a:t>الأنماط المعمارية</a:t>
            </a:r>
          </a:p>
          <a:p>
            <a:pPr algn="r"/>
            <a:r>
              <a:rPr>
                <a:latin typeface="Arial"/>
              </a:rPr>
              <a:t>الفكرة الأساسية</a:t>
            </a:r>
          </a:p>
          <a:p>
            <a:pPr algn="r"/>
            <a:r>
              <a:rPr>
                <a:latin typeface="Arial"/>
              </a:rPr>
              <a:t>يتم توصيف النمط من حيث:</a:t>
            </a:r>
          </a:p>
          <a:p>
            <a:pPr algn="r"/>
            <a:r>
              <a:rPr>
                <a:latin typeface="Arial"/>
              </a:rPr>
              <a:t>مكونات (قابلة للاستبدال) ذات واجهات محددة بوضوح</a:t>
            </a:r>
          </a:p>
          <a:p>
            <a:pPr algn="r"/>
            <a:r>
              <a:rPr>
                <a:latin typeface="Arial"/>
              </a:rPr>
              <a:t>طريقة ربط المكونات ببعضها البعض</a:t>
            </a:r>
          </a:p>
          <a:p>
            <a:pPr algn="r"/>
            <a:r>
              <a:rPr>
                <a:latin typeface="Arial"/>
              </a:rPr>
              <a:t>البيانات المتبادلة بين المكونات</a:t>
            </a:r>
          </a:p>
          <a:p>
            <a:pPr algn="r"/>
            <a:r>
              <a:rPr>
                <a:latin typeface="Arial"/>
              </a:rPr>
              <a:t>كيفية تهيئة هذه المكونات والموصلات معًا ضمن نظام واحد.</a:t>
            </a:r>
          </a:p>
          <a:p>
            <a:pPr algn="r"/>
          </a:p>
          <a:p>
            <a:pPr algn="r"/>
            <a:r>
              <a:rPr>
                <a:latin typeface="Arial"/>
              </a:rPr>
              <a:t>الموصل (Connector)</a:t>
            </a:r>
          </a:p>
          <a:p>
            <a:pPr algn="r"/>
            <a:r>
              <a:rPr>
                <a:latin typeface="Arial"/>
              </a:rPr>
              <a:t>آلية تتوسط الاتصال أو التنسيق أو التعاون بين المكونات. مثال: مرافق استدعاء الإجراء (عن بُعد)، أو المراسلة، أو البث (Streaming).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949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r"/>
            <a:r>
              <a:rPr>
                <a:latin typeface="Arial"/>
              </a:rPr>
              <a:t>المعماريات</a:t>
            </a: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998925" y="-1515"/>
            <a:ext cx="5556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r"/>
            <a:r>
              <a:rPr>
                <a:latin typeface="Arial"/>
              </a:rPr>
              <a:t>الأنماط المعمارية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983105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r"/>
            <a:r>
              <a:rPr>
                <a:latin typeface="Arial"/>
              </a:rPr>
              <a:t>المعمارية الطبقية</a:t>
            </a:r>
          </a:p>
          <a:p>
            <a:pPr algn="r"/>
            <a:r>
              <a:rPr>
                <a:latin typeface="Arial"/>
              </a:rPr>
              <a:t>تنظيمات طبقية مختلفة</a:t>
            </a: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2107" y="811420"/>
            <a:ext cx="873549" cy="175950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91500" y="888581"/>
            <a:ext cx="874814" cy="166716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45991" y="1207340"/>
            <a:ext cx="1040110" cy="1138427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994714" y="2653367"/>
            <a:ext cx="16510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r"/>
            <a:r>
              <a:rPr>
                <a:latin typeface="Arial"/>
              </a:rPr>
              <a:t>(أ)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147909" y="2653367"/>
            <a:ext cx="16510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r"/>
            <a:r>
              <a:rPr>
                <a:latin typeface="Arial"/>
              </a:rPr>
              <a:t>(ب)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378082" y="2653367"/>
            <a:ext cx="15875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r"/>
            <a:r>
              <a:rPr>
                <a:latin typeface="Arial"/>
              </a:rPr>
              <a:t>(ج)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3" name="object 13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3467" y="3349927"/>
            <a:ext cx="63055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algn="r"/>
            <a:r>
              <a:rPr>
                <a:latin typeface="Arial"/>
              </a:rPr>
              <a:t>المعماريات الطبقية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949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r"/>
            <a:r>
              <a:rPr>
                <a:latin typeface="Arial"/>
              </a:rPr>
              <a:t>المعماريات</a:t>
            </a: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747782" y="-1515"/>
            <a:ext cx="8070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r"/>
            <a:r>
              <a:rPr>
                <a:latin typeface="Arial"/>
              </a:rPr>
              <a:t>معماريات الأنظمة الهجينة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546350" cy="469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r"/>
            <a:r>
              <a:rPr>
                <a:latin typeface="Arial"/>
              </a:rPr>
              <a:t>سلاسل الكتل (Blockchains)</a:t>
            </a:r>
          </a:p>
          <a:p>
            <a:pPr algn="r"/>
            <a:r>
              <a:rPr>
                <a:latin typeface="Arial"/>
              </a:rPr>
              <a:t>مبدأ عمل نظام سلسلة الكتل</a:t>
            </a: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5872" y="678636"/>
            <a:ext cx="2543330" cy="174909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21894" y="2458632"/>
            <a:ext cx="3566795" cy="83248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algn="r"/>
            <a:r>
              <a:rPr>
                <a:latin typeface="Arial"/>
              </a:rPr>
              <a:t>ملاحظات</a:t>
            </a:r>
          </a:p>
          <a:p>
            <a:pPr algn="r"/>
            <a:r>
              <a:rPr>
                <a:latin typeface="Arial"/>
              </a:rPr>
              <a:t>تُنظَّم الكتل في سلسلة إضافية فقط (append-only) غير قابلة للتزوير</a:t>
            </a:r>
          </a:p>
          <a:p>
            <a:pPr algn="r"/>
            <a:r>
              <a:rPr>
                <a:latin typeface="Arial"/>
              </a:rPr>
              <a:t>كل كتلة في سلسلة الكتل غير قابلة للتغيير ⇒ ما يستلزم تكرارًا واسعًا</a:t>
            </a:r>
          </a:p>
          <a:p>
            <a:pPr algn="r"/>
            <a:r>
              <a:rPr>
                <a:latin typeface="Arial"/>
              </a:rPr>
              <a:t>تكمن العقدة الحقيقية في: مَن يُسمح له بإضافة كتلة إلى السلسلة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70993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algn="r"/>
            <a:r>
              <a:rPr>
                <a:latin typeface="Arial"/>
              </a:rPr>
              <a:t>معماريات سلاسل الكتل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949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r"/>
            <a:r>
              <a:rPr>
                <a:latin typeface="Arial"/>
              </a:rPr>
              <a:t>المعماريات</a:t>
            </a: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747782" y="-1515"/>
            <a:ext cx="8070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r"/>
            <a:r>
              <a:rPr>
                <a:latin typeface="Arial"/>
              </a:rPr>
              <a:t>معماريات الأنظمة الهجينة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830830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r"/>
            <a:r>
              <a:rPr>
                <a:latin typeface="Arial"/>
              </a:rPr>
              <a:t>إضافة كتلة: توافق موزع</a:t>
            </a:r>
          </a:p>
          <a:p>
            <a:pPr algn="r"/>
            <a:r>
              <a:rPr>
                <a:latin typeface="Arial"/>
              </a:rPr>
              <a:t>حل مركزي</a:t>
            </a: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31252" y="767685"/>
            <a:ext cx="2145483" cy="112634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43547" y="2017863"/>
            <a:ext cx="3872865" cy="49657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algn="r"/>
            <a:r>
              <a:rPr>
                <a:latin typeface="Arial"/>
              </a:rPr>
              <a:t>ملاحظة</a:t>
            </a:r>
          </a:p>
          <a:p>
            <a:pPr algn="r"/>
            <a:r>
              <a:rPr>
                <a:latin typeface="Arial"/>
              </a:rPr>
              <a:t>كيان واحد يقرر أي مُحقِّق (Validator) يمكنه المتابعة وإضافة كتلة. وهذا لا يتوافق مع أهداف تصميم سلاسل الكتل.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70993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algn="r"/>
            <a:r>
              <a:rPr>
                <a:latin typeface="Arial"/>
              </a:rPr>
              <a:t>معماريات سلاسل الكتل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949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r"/>
            <a:r>
              <a:rPr>
                <a:latin typeface="Arial"/>
              </a:rPr>
              <a:t>المعماريات</a:t>
            </a: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747782" y="-1515"/>
            <a:ext cx="8070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r"/>
            <a:r>
              <a:rPr>
                <a:latin typeface="Arial"/>
              </a:rPr>
              <a:t>معماريات الأنظمة الهجينة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830830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r"/>
            <a:r>
              <a:rPr>
                <a:latin typeface="Arial"/>
              </a:rPr>
              <a:t>إضافة كتلة: توافق موزع</a:t>
            </a:r>
          </a:p>
          <a:p>
            <a:pPr algn="r"/>
            <a:r>
              <a:rPr>
                <a:latin typeface="Arial"/>
              </a:rPr>
              <a:t>حل موزع (Permissioned)</a:t>
            </a: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31252" y="791980"/>
            <a:ext cx="2145483" cy="112634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21894" y="1985926"/>
            <a:ext cx="3963670" cy="113855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algn="r"/>
            <a:r>
              <a:rPr>
                <a:latin typeface="Arial"/>
              </a:rPr>
              <a:t>ملاحظة</a:t>
            </a:r>
          </a:p>
          <a:p>
            <a:pPr algn="r"/>
            <a:r>
              <a:rPr>
                <a:latin typeface="Arial"/>
              </a:rPr>
              <a:t>تتوصل مجموعة مختارة وصغيرة نسبيًا من الخوادم بشكل مشترك إلى توافق حول أي مُحقِّق يمكنه المتابعة.</a:t>
            </a:r>
          </a:p>
          <a:p>
            <a:pPr algn="r"/>
            <a:r>
              <a:rPr>
                <a:latin typeface="Arial"/>
              </a:rPr>
              <a:t>لا يلزم الوثوق بأي خادم بعينه، ما دام نحو ثلثي الخوادم يتصرفون وفق مواصفاتهم.</a:t>
            </a:r>
          </a:p>
          <a:p>
            <a:pPr algn="r"/>
            <a:r>
              <a:rPr>
                <a:latin typeface="Arial"/>
              </a:rPr>
              <a:t>عمليًا، لا يمكن استيعاب سوى بضع عشرات من الخوادم.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70993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algn="r"/>
            <a:r>
              <a:rPr>
                <a:latin typeface="Arial"/>
              </a:rPr>
              <a:t>معماريات سلاسل الكتل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949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r"/>
            <a:r>
              <a:rPr>
                <a:latin typeface="Arial"/>
              </a:rPr>
              <a:t>المعماريات</a:t>
            </a: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747782" y="-1515"/>
            <a:ext cx="8070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r"/>
            <a:r>
              <a:rPr>
                <a:latin typeface="Arial"/>
              </a:rPr>
              <a:t>معماريات الأنظمة الهجينة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830830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r"/>
            <a:r>
              <a:rPr>
                <a:latin typeface="Arial"/>
              </a:rPr>
              <a:t>إضافة كتلة: توافق موزع</a:t>
            </a:r>
          </a:p>
          <a:p>
            <a:pPr algn="r"/>
            <a:r>
              <a:rPr>
                <a:latin typeface="Arial"/>
              </a:rPr>
              <a:t>حل لامركزي (Permissionless)</a:t>
            </a: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31252" y="791980"/>
            <a:ext cx="2145483" cy="112634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21894" y="1985926"/>
            <a:ext cx="3964304" cy="947419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algn="r"/>
            <a:r>
              <a:rPr>
                <a:latin typeface="Arial"/>
              </a:rPr>
              <a:t>ملاحظة</a:t>
            </a:r>
          </a:p>
          <a:p>
            <a:pPr algn="r"/>
            <a:r>
              <a:rPr>
                <a:latin typeface="Arial"/>
              </a:rPr>
              <a:t>يشارك المشاركون جماعيًا في انتخاب قائد. ويُسمح فقط للقائد المنتخب بإضافة كتلة من المعاملات المُتحقق منها.</a:t>
            </a:r>
          </a:p>
          <a:p>
            <a:pPr algn="r"/>
            <a:r>
              <a:rPr>
                <a:latin typeface="Arial"/>
              </a:rPr>
              <a:t>إن إجراء انتخاب قائد لامركزي واسع النطاق يكون عادلًا ومتينًا وآمنًا، وما إلى ذلك، ليس أمرًا بسيطًا على الإطلاق.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70993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algn="r"/>
            <a:r>
              <a:rPr>
                <a:latin typeface="Arial"/>
              </a:rPr>
              <a:t>معماريات سلاسل الكتل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</TotalTime>
  <Words>318</Words>
  <Application>Microsoft Office PowerPoint</Application>
  <PresentationFormat>Custom</PresentationFormat>
  <Paragraphs>55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Apple Symbols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Distributed Systems   (4th edition, version 01)</dc:title>
  <cp:lastModifiedBy>Sami</cp:lastModifiedBy>
  <cp:revision>4</cp:revision>
  <dcterms:created xsi:type="dcterms:W3CDTF">2023-04-27T06:02:17Z</dcterms:created>
  <dcterms:modified xsi:type="dcterms:W3CDTF">2026-04-20T21:21:20Z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2023-04-27T00:00:00Z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2023-04-27T00:00:00Z</vt:filetime>
  </property>
  <property fmtid="{D5CDD505-2E9C-101B-9397-08002B2CF9AE}" pid="5" name="PTEX.Fullbanner">
    <vt:lpwstr>This is pdfTeX, Version 3.141592653-2.6-1.40.24 (TeX Live 2022) kpathsea version 6.3.4</vt:lpwstr>
  </property>
  <property fmtid="{D5CDD505-2E9C-101B-9397-08002B2CF9AE}" pid="6" name="Producer">
    <vt:lpwstr>pdfTeX-1.40.24</vt:lpwstr>
  </property>
</Properties>
</file>