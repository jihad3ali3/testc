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49" d="100"/>
          <a:sy n="149" d="100"/>
        </p:scale>
        <p:origin x="1675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6126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26847"/>
            <a:ext cx="1783714" cy="5822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الأنظمة الموزعة</a:t>
            </a:r>
          </a:p>
          <a:p>
            <a:pPr algn="r"/>
            <a:r>
              <a:rPr>
                <a:latin typeface="Arial"/>
              </a:rPr>
              <a:t>(الطبعة الرابعة، الإصدار 01)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8734" y="2409530"/>
            <a:ext cx="1891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الفصل 03: العمليات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العمليات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الخيوط (Threads)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59885" cy="217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مقدمة إلى الخيوط</a:t>
            </a:r>
          </a:p>
          <a:p>
            <a:pPr algn="r"/>
            <a:r>
              <a:rPr>
                <a:latin typeface="Arial"/>
              </a:rPr>
              <a:t>الفكرة الأساسية</a:t>
            </a:r>
          </a:p>
          <a:p>
            <a:pPr algn="r"/>
            <a:r>
              <a:rPr>
                <a:latin typeface="Arial"/>
              </a:rPr>
              <a:t>نبني معالجات افتراضية برمجيًا فوق المعالجات الفيزيائية:</a:t>
            </a:r>
          </a:p>
          <a:p>
            <a:pPr algn="r"/>
            <a:r>
              <a:rPr>
                <a:latin typeface="Arial"/>
              </a:rPr>
              <a:t>المعالج (Processor): يوفر مجموعة تعليمات مع القدرة على تنفيذ سلسلة من هذه التعليمات تلقائيًا.</a:t>
            </a:r>
          </a:p>
          <a:p>
            <a:pPr algn="r"/>
            <a:r>
              <a:rPr>
                <a:latin typeface="Arial"/>
              </a:rPr>
              <a:t>الخيط (Thread): معالج برمجي مصغر يمكن ضمن سياقه تنفيذ سلسلة من التعليمات. حفظ سياق الخيط يعني إيقاف التنفيذ الحالي وحفظ جميع البيانات اللازمة لاستئناف التنفيذ لاحقًا.</a:t>
            </a:r>
          </a:p>
          <a:p>
            <a:pPr algn="r"/>
            <a:r>
              <a:rPr>
                <a:latin typeface="Arial"/>
              </a:rPr>
              <a:t>العملية (Process): معالج برمجي يمكن ضمن سياقه تنفيذ خيط واحد أو أكثر. تنفيذ خيط يعني تنفيذ سلسلة من التعليمات ضمن سياق ذلك الخيط.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مقدمة إلى الخيوط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العمليات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الخيوط (Threads)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8305" cy="2021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تبديل السياق</a:t>
            </a:r>
          </a:p>
          <a:p>
            <a:pPr algn="r"/>
            <a:r>
              <a:rPr>
                <a:latin typeface="Arial"/>
              </a:rPr>
              <a:t>السياقات</a:t>
            </a:r>
          </a:p>
          <a:p>
            <a:pPr algn="r"/>
            <a:r>
              <a:rPr>
                <a:latin typeface="Arial"/>
              </a:rPr>
              <a:t>سياق المعالج (Processor context): أصغر مجموعة قيم محفوظة في سجلات المعالج والمستخدمة لتنفيذ سلسلة من التعليمات (مثل: مؤشر المكدس، سجلات العنونة، عداد البرنامج).</a:t>
            </a:r>
          </a:p>
          <a:p>
            <a:pPr algn="r"/>
            <a:r>
              <a:rPr>
                <a:latin typeface="Arial"/>
              </a:rPr>
              <a:t>سياق الخيط (Thread context): أصغر مجموعة قيم محفوظة في السجلات والذاكرة والمستخدمة لتنفيذ سلسلة من التعليمات (أي: سياق المعالج + الحالة).</a:t>
            </a:r>
          </a:p>
          <a:p>
            <a:pPr algn="r"/>
            <a:r>
              <a:rPr>
                <a:latin typeface="Arial"/>
              </a:rPr>
              <a:t>سياق العملية (Process context): أصغر مجموعة قيم محفوظة في السجلات والذاكرة والمستخدمة لتنفيذ خيط (أي: سياق الخيط، إضافةً إلى قيم سجلات MMU على الأقل).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مقدمة إلى الخيوط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العمليات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الخيوط (Threads)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65600" cy="156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تبديل السياق</a:t>
            </a:r>
          </a:p>
          <a:p>
            <a:pPr algn="r"/>
            <a:r>
              <a:rPr>
                <a:latin typeface="Arial"/>
              </a:rPr>
              <a:t>ملاحظات</a:t>
            </a:r>
          </a:p>
          <a:p>
            <a:pPr algn="r"/>
            <a:r>
              <a:rPr>
                <a:latin typeface="Arial"/>
              </a:rPr>
              <a:t>تشترك الخيوط في فضاء العناوين نفسه. ويمكن تنفيذ تبديل سياق الخيوط بالكامل بشكل مستقل عن نظام التشغيل.</a:t>
            </a:r>
          </a:p>
          <a:p>
            <a:pPr algn="r"/>
            <a:r>
              <a:rPr>
                <a:latin typeface="Arial"/>
              </a:rPr>
              <a:t>تبديل العمليات يكون عمومًا أكثر كلفة (إلى حد ما) لأنه يتطلب إشراك نظام التشغيل، أي الانتقال إلى النواة (Kernel Trap).</a:t>
            </a:r>
          </a:p>
          <a:p>
            <a:pPr algn="r"/>
            <a:r>
              <a:rPr>
                <a:latin typeface="Arial"/>
              </a:rPr>
              <a:t>إنشاء الخيوط وتدميرها أرخص بكثير من إنشاء العمليات وتدميرها.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مقدمة إلى الخيوط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213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العمليات</a:t>
            </a: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7083" y="-1515"/>
            <a:ext cx="2578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الخيوط (Threads)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6400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r"/>
            <a:r>
              <a:rPr>
                <a:latin typeface="Arial"/>
              </a:rPr>
              <a:t>لماذا نستخدم الخيوط</a:t>
            </a:r>
          </a:p>
          <a:p>
            <a:pPr algn="r"/>
            <a:r>
              <a:rPr>
                <a:latin typeface="Arial"/>
              </a:rPr>
              <a:t>بعض الأسباب البسيطة</a:t>
            </a:r>
          </a:p>
          <a:p>
            <a:pPr algn="r"/>
            <a:r>
              <a:rPr>
                <a:latin typeface="Arial"/>
              </a:rPr>
              <a:t>تجنب الحجب غير الضروري: العملية أحادية الخيط ستتوقف عند تنفيذ عمليات الإدخال/الإخراج (I/O)؛ بينما في العملية متعددة الخيوط يستطيع نظام التشغيل تحويل وحدة المعالجة إلى خيط آخر داخل العملية نفسها.</a:t>
            </a:r>
          </a:p>
          <a:p>
            <a:pPr algn="r"/>
            <a:r>
              <a:rPr>
                <a:latin typeface="Arial"/>
              </a:rPr>
              <a:t>استغلال التوازي: يمكن جدولة خيوط العملية متعددة الخيوط للعمل بالتوازي على معالج متعدد المعالجات أو متعدد الأنوية.</a:t>
            </a:r>
          </a:p>
          <a:p>
            <a:pPr algn="r"/>
            <a:r>
              <a:rPr>
                <a:latin typeface="Arial"/>
              </a:rPr>
              <a:t>تجنب تبديل العمليات: هيكلة التطبيقات الكبيرة عبر عدة خيوط بدلًا من تقسيمها إلى مجموعة عمليات.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553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r"/>
            <a:r>
              <a:rPr>
                <a:latin typeface="Arial"/>
              </a:rPr>
              <a:t>مقدمة إلى الخيوط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403</Words>
  <Application>Microsoft Office PowerPoint</Application>
  <PresentationFormat>Custom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Sami</cp:lastModifiedBy>
  <cp:revision>5</cp:revision>
  <dcterms:created xsi:type="dcterms:W3CDTF">2023-04-27T06:04:42Z</dcterms:created>
  <dcterms:modified xsi:type="dcterms:W3CDTF">2026-04-20T21:22:04Z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